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dawn of the 21st century, humanity stands at a critical juncture defined by two accelerating forces: the exponential growth of digital intelligence and the urgent necessity of ecological preservation. The advent of Cloud Computing and Artificial Intelligence (AI) has revolutionized every sector of modern civilization, from healthcare diagnostics to autonomous transportation. However, this digital ubiquity comes with a profound physical cost. Data centers—the massive industrial facilities that house the servers powering our digital lives—have emerged as one of the largest consumers of electricity on the planet.</a:t>
            </a:r>
          </a:p>
          <a:p>
            <a:r>
              <a:t>Current estimates from the International Energy Agency (IEA) suggest that data centers consume approximately 2% of the world's total electricity supply. This consumption is projected to double by 2030. The "Cloud," often perceived as an ephemeral and clean entity, is in reality a vast network of concrete fortresses drawing gigawatts of power, much of which is still generated by burning fossil fuels like coal and natural gas.</a:t>
            </a:r>
          </a:p>
          <a:p>
            <a:r>
              <a:t>The central problem is not just the *amount* of energy consumed, but the *timing* of that consumption. Traditional data centers operate on a "Demand-First" paradigm. When a user requests a service, the server responds immediately. If the request comes at 7:00 PM (peak dirty grid), the carbon footprint is massive. EcoSync proposes a "Carbon-Aware" paradigm using AI Deep Reinforcement Learning to synchronize workloads with renewable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Artificial Intelligence, particularly Deep Learning, has unlocked capabilities previously thought to be the domain of science fiction. However, the thermodynamic cost of this intelligence is staggering. Training a single Large Language Model (LLM) can emit as much carbon dioxide as five American cars over their entire lifetimes. This is known as the "Red AI" problem.</a:t>
            </a:r>
          </a:p>
          <a:p>
            <a:r>
              <a:t>The carbon footprint of a computational task is determined by three factors: PUE (Hardware Efficiency), Duration, and **Carbon Intensity (CI)**. CI fluctuates hour-by-hour based on weather. A task executed at Noon (Solar peak) is clean. The same task at 8 PM is dirty.</a:t>
            </a:r>
          </a:p>
          <a:p>
            <a:r>
              <a:t>EcoSync utilizes **Temporal Load Shifting**. By identifying delay-tolerant tasks (backups, batch processing), our PPO Agent "moves" them to green time windows, navigating the trade-off between SLAs and environmental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"Duck Curve" graphs the mismatch between solar energy production and human demand. In solar-rich markets, demand drops midday (when sun is shining) and spikes in the evening (when sun sets). This forces grid operators to fire up fossil-fuel peaker plants at sunset.</a:t>
            </a:r>
          </a:p>
          <a:p>
            <a:r>
              <a:t>For data centers, this is an opportunity. Unlike residential homes, data centers are controllable loads. They can choose to run heavy maintenance jobs at noon. EcoSync mathematically models this Duck Curve using Gaussian distributions. The AI learns to "fill the belly" (work at noon) and "shave the head" (idling at night), flattening the grid curve.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Implementing experimental scheduling on live servers is risky. EcoSync adopts a **Digital Twin** methodology—a virtual replica of a Hyperscale Data Center.</a:t>
            </a:r>
          </a:p>
          <a:p>
            <a:r>
              <a:t>Our simulator creates a high-fidelity environment. The "Physics Kernel" (`energy.py`) simulates PV voltage potential. The "Workload Kernel" (`workload.py`) generates stochastic user traffic. Within this simulation, the AI agent acts as the facility manager, observing stats like "Solar High, Battery 50%, Queue Moderate" and choosing actions (Boost, Eco, Defer). This allows training over millions of equivalent hours safely.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grounded in corporate reliability. Tech giants (Microsoft, Google) have pledged to be Carbon Neutral/Negative by 2030. Achieving this requires fundamental operational changes.</a:t>
            </a:r>
          </a:p>
          <a:p>
            <a:r>
              <a:t>Current strategies rely on "Spatial Shifting" (moving load to windy countries), but data sovereignty laws (GDPR) limit this. EcoSync focuses on **Temporal Shifting** (moving load in time), which is universally applicable. It democratizes Green AI, providing an open-source framework for smaller institutions to audit and reduce their footprint.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EcoSync decomposes "Data Center Load" into three vectors:</a:t>
            </a:r>
          </a:p>
          <a:p>
            <a:r>
              <a:t>1.  **Computation (CPU/GPU):** The primary variable. Cycles are ephemeral but delayable.</a:t>
            </a:r>
          </a:p>
          <a:p>
            <a:r>
              <a:t>2.  **Storage (HDD/SSD):** A baseload power draw. Less elastic.</a:t>
            </a:r>
          </a:p>
          <a:p>
            <a:r>
              <a:t>3.  **Network:** The cost of moving bits.</a:t>
            </a:r>
          </a:p>
          <a:p>
            <a:r>
              <a:t>We focus on **Deferrable Workloads** (asynchronous tasks like indexing, training, reporting). Real-time user requests cannot be deferred, but batch jobs can. This maximizes impact without degrading end-user experience (latency).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leverages the Python scientific ecosystem:</a:t>
            </a:r>
          </a:p>
          <a:p>
            <a:r>
              <a:t>1.  **NumPy/Pandas:** High-performance vectorization for minute-by-minute energy simulation.</a:t>
            </a:r>
          </a:p>
          <a:p>
            <a:r>
              <a:t>2.  **Stable-Baselines3:** Industry-standard RL library for the PPO algorithm.</a:t>
            </a:r>
          </a:p>
          <a:p>
            <a:r>
              <a:t>3.  **Streamlit:** Pure Python web framework for the reactive dashboard.</a:t>
            </a:r>
          </a:p>
          <a:p>
            <a:r>
              <a:t>4.  **Plotly:** Interactive graphing for the audit logs.</a:t>
            </a:r>
          </a:p>
          <a:p>
            <a:r>
              <a:t>This stack ensures the tool is accessible to Data Scientists and robust enough for accurate simulation.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the "Green Computing" crisis and the "Duck Curve" opportunity. We have proposed an Algorithmic solution (AI Scheduler) rather than a Physical one (Batteries). We verified the scope (Temporal Shifting of Deferrable Load) and the Stack (Python). Transition to Chapter 2: System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EcoSync follows a Model-View-Controller (MVC) pattern adapted for AI.</a:t>
            </a:r>
          </a:p>
          <a:p>
            <a:r>
              <a:t>1.  **Environment (Model):** `simulation/environment.py` involves the Physics Engine. It holds "Ground Truth" (Battery state, Weather). It enforces laws of physics.</a:t>
            </a:r>
          </a:p>
          <a:p>
            <a:r>
              <a:t>2.  **Agent (Controller):** `simulation/ai_inference.py`. The PPO Neural Network. It observes state and outputs actions. Features "Hybrid Intelligence" guardrails for safety.</a:t>
            </a:r>
          </a:p>
          <a:p>
            <a:r>
              <a:t>3.  **Dashboard (View):** `app.py`. Streamlit UI. Consumes data and renders KPIs/Charts.</a:t>
            </a:r>
          </a:p>
          <a:p/>
          <a:p/>
          <a:p/>
          <a:p>
            <a:r>
              <a:t>## 🏛️ CHAPTER 2: SYSTEM ARCHITECTURE (PAGES 10 - 20)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Physics Kernel is the bedrock of the simulation. It is responsible for creating a consistent, causal reality for the AI to inhabit. Located in `energy.py`, it does not just output random numbers; it ensures energy conservation.</a:t>
            </a:r>
          </a:p>
          <a:p>
            <a:r>
              <a:t>Energy cannot be created or destroyed. If the Solar panels generate 50 kWh and the Battery charges by 20 kWh, the remaining 30 kWh is the maximum available for Compute or Grid Export. The Kernel enforces this balance tick-by-tick. It also handles the "Time of Day" logic, ensuring the sun never shines at midnight, maintaining the temporal integrity required for the AI to learn circadian patterns.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Simulating User Traffic is complex. Real traffic is "Poissonian" (random arrivals) but with "Seasonality" (Daily peaks).</a:t>
            </a:r>
          </a:p>
          <a:p>
            <a:r>
              <a:t>Our Workload Kernel (`workload.py`) layers three signals:</a:t>
            </a:r>
          </a:p>
          <a:p>
            <a:r>
              <a:t>1.  **Base Load:** The constant hum of background processes (20% capacity).</a:t>
            </a:r>
          </a:p>
          <a:p>
            <a:r>
              <a:t>2.  **Diurnal Cycle:** A sine-wave-like curve peaking at 2 PM and dipping at 3 AM.</a:t>
            </a:r>
          </a:p>
          <a:p>
            <a:r>
              <a:t>3.  **Burst Noise:** Random spikes simulating "Viral Events" or DDoS attacks.</a:t>
            </a:r>
          </a:p>
          <a:p>
            <a:r>
              <a:t>This complexity ensures the AI cannot just "memorize" a static schedule; it must react dynamically to the queue length sensor.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is the decision-making entity. It is not Rule-Based (if X then Y); it is Policy-Based (in state S, action A has probability P).</a:t>
            </a:r>
          </a:p>
          <a:p>
            <a:r>
              <a:t>We use **Proximal Policy Optimization (PPO)**. It is an "Actor-Critic" method.</a:t>
            </a:r>
          </a:p>
          <a:p>
            <a:r>
              <a:t>*   **The Actor:** Proposes an action (e.g., "Boost").</a:t>
            </a:r>
          </a:p>
          <a:p>
            <a:r>
              <a:t>*   **The Critic:** Estimates the value of that action (e.g., "That's a bad idea, carbon is high").</a:t>
            </a:r>
          </a:p>
          <a:p>
            <a:r>
              <a:t>Over training, the Actor aligns with the Critic to maximize long-term rewards (Cumulative Return). The architecture uses a Multi-Layer Perceptron (MLP) neural network with 2 hidden layers of 64 neurons each.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"Eyes" of the AI. We feed a normalized tensor (vector) of 7 floats.</a:t>
            </a:r>
          </a:p>
          <a:p>
            <a:r>
              <a:t>1.  `Hour`: Cyclical (0-24).</a:t>
            </a:r>
          </a:p>
          <a:p>
            <a:r>
              <a:t>2.  `Solar`: Normalized (0-1).</a:t>
            </a:r>
          </a:p>
          <a:p>
            <a:r>
              <a:t>3.  `Wind`: Normalized (0-1).</a:t>
            </a:r>
          </a:p>
          <a:p>
            <a:r>
              <a:t>4.  `Carbon`: Normalized (0-1).</a:t>
            </a:r>
          </a:p>
          <a:p>
            <a:r>
              <a:t>5.  `Queue`: Normalized (0-1).</a:t>
            </a:r>
          </a:p>
          <a:p>
            <a:r>
              <a:t>6.  `Battery`: Normalized (0-1).</a:t>
            </a:r>
          </a:p>
          <a:p>
            <a:r>
              <a:t>7.  `Task Age`: Normalized (0-1).</a:t>
            </a:r>
          </a:p>
          <a:p>
            <a:r>
              <a:t>Normalization is critical. If `Carbon` is 400 and `Solar` is 1, the neural net weights will explode. By keeping inputs between 0 and 1, we ensure stable Backpropagation.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 of the AI. We discretized the infinite possibility space into 3 actions.</a:t>
            </a:r>
          </a:p>
          <a:p>
            <a:r>
              <a:t>1.  **BOOST:** Max Power. Ignoring sustainability.</a:t>
            </a:r>
          </a:p>
          <a:p>
            <a:r>
              <a:t>2.  **ECO:** Max Sustainability. Ignoring throughput speed.</a:t>
            </a:r>
          </a:p>
          <a:p>
            <a:r>
              <a:t>3.  **DEFER:** Max Preservation. Ignoring latency.</a:t>
            </a:r>
          </a:p>
          <a:p>
            <a:r>
              <a:t>This "Trinary Logic" is easier for the AI to master than a continuous output (e.g., "Run at 43.5% power"). It forces the agent to commit to a mode of operation, providing clear explainability for human auditors ("Why did it stop? Because it chose DEFER").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AI is dangerous. It is a "Black Box." To prevent catastrophic failure, we wrap the AI in "White Box" logic.</a:t>
            </a:r>
          </a:p>
          <a:p>
            <a:r>
              <a:t>*   **Safety Layer:** A pre-processor checks the state before the AI sees it. If `Queue &gt; 95%`, it forces `Action=BOOST`.</a:t>
            </a:r>
          </a:p>
          <a:p>
            <a:r>
              <a:t>*   **Compliance Layer:** A post-processor checks the action. If `Action=BOOST` but `Carbon &gt; 800g`, it overrides to `mid-power`.</a:t>
            </a:r>
          </a:p>
          <a:p>
            <a:r>
              <a:t>This Hybrid architecture ensures that the system complies with hard engineering constraints (don't overflow memory) and hard environmental constraints (don't pollute excessively) regardless of the Neural Net's stochastic choices.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EcoSync does not use a SQL database. It uses **Pandas DataFrames** in memory.</a:t>
            </a:r>
          </a:p>
          <a:p>
            <a:r>
              <a:t>Since the simulation generates ~200,000 data points per run, writing to SQL would slow down the training loop. We keep the "Episode Replay Buffer" in RAM. When the user requests an Audit Report, we serialize this DataFrame to CSV (`history.csv`). This approach keeps the system lightweight and portable (No postgres container needed), aligned with the "Green Computing" philosophy of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is useless if invisible. We use **Plotly** for rendering.</a:t>
            </a:r>
          </a:p>
          <a:p>
            <a:r>
              <a:t>*   **Vector Rendering:** Charts are SVG/Canvas, not static images. This allows deep zoom.</a:t>
            </a:r>
          </a:p>
          <a:p>
            <a:r>
              <a:t>*   **Dual-Axis:** We map Energy (Left Axis) and Carbon (Right Axis) to visualize correlations.</a:t>
            </a:r>
          </a:p>
          <a:p>
            <a:r>
              <a:t>*   **Color Theory:** We use "Semantic Colors." Green for Solar, Grey for Grid/Carbon, Red for Drops. This allows operators to intuitively grasp the system status in milliseconds (Pre-Attentive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Streamlit introduces a unique "Re-Run" architecture. Every time a user interacts (moves a slider), the entire script re-executes.</a:t>
            </a:r>
          </a:p>
          <a:p>
            <a:r>
              <a:t>This mimics a "Reactive" framework like React.js but in Python. To handle state (e.g., holding the battery level between runs), we use the `st.session_state` dictionary. This persistence layer is what turns a linear script into a stateful application. We analyze the specific "Callback" logic used to trigger the simulation loop only when the "Run" button is clicked, preventing CPU waste.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a simulator needs security.</a:t>
            </a:r>
          </a:p>
          <a:p>
            <a:r>
              <a:t>1.  **Input Validation:** We sanitize user inputs (e.g., restricting Solar Capacity to reasonable 0-500kW limits) to prevent "Simulation Segfaults."</a:t>
            </a:r>
          </a:p>
          <a:p>
            <a:r>
              <a:t>2.  **Model Signing:** The PPO model file (`.zip`) is hashed. The Inference engine checks this hash to ensure no one has swapped the "Green Brain" for a "Polluting Brain."</a:t>
            </a:r>
          </a:p>
          <a:p>
            <a:r>
              <a:t>3.  **Audit Trail:** The generated logs are immutable during the session. This prevents operators from "Deleting" bad carbon days to look better on reports.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Chapter 2. We have detailed the full stack:</a:t>
            </a:r>
          </a:p>
          <a:p>
            <a:r>
              <a:t>*   **Physics:** Gaussian Math.</a:t>
            </a:r>
          </a:p>
          <a:p>
            <a:r>
              <a:t>*   **Logic:** PPO + Guardrails.</a:t>
            </a:r>
          </a:p>
          <a:p>
            <a:r>
              <a:t>*   **Data:** Pandas + CSV.</a:t>
            </a:r>
          </a:p>
          <a:p>
            <a:r>
              <a:t>*   **UI:** Streamlit + Plotly.</a:t>
            </a:r>
          </a:p>
          <a:p>
            <a:r>
              <a:t>This modular design (Loose Coupling, High Cohesion) ensures that any part can be upgraded (e.g., swapping PPO for A3C) without breaking the others.</a:t>
            </a:r>
          </a:p>
          <a:p/>
          <a:p/>
          <a:p/>
          <a:p>
            <a:r>
              <a:t>## 🏛️ CHAPTER 3: IMPLEMENTATION RADIOLOGY (PAGES 21 - 25)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`simulation/energy.py` -&gt; `get_solar_power`</a:t>
            </a:r>
          </a:p>
          <a:p>
            <a:r>
              <a:t>The simulation of solar energy is the heartbeat of the EcoSync system. We do not use static files; we use a generative mathematical model based on the **Gaussian Distribution** (or Bell Curve).</a:t>
            </a:r>
          </a:p>
          <a:p>
            <a:r>
              <a:t>The formula $I = e^{-0.5 \cdot (\frac{t - \mu}{\sigma})^2}$ allows us to create a perfect curve of daylight.</a:t>
            </a:r>
          </a:p>
          <a:p>
            <a:r>
              <a:t>*   **$\mu$ (Mu = 12.0):** This represents the "Mean" of the distribution. In solar physics, this is **Solar Noon**—the moment the sun is highest in the sky. By setting Mu to 12, we center our energy production at midday.</a:t>
            </a:r>
          </a:p>
          <a:p>
            <a:r>
              <a:t>*   **$\sigma$ (Sigma = 2.5):** This is the "Standard Deviation." It controls the width of the bell curve. A lower sigma would represent a short winter day; a higher sigma represents a long summer day. We use 2.5 as a globally average constant.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`simulation/energy.py` -&gt; `get_carbon_intensity`</a:t>
            </a:r>
          </a:p>
          <a:p>
            <a:r>
              <a:t>Modeling the "Dirtiness" of the grid is crucial. We model the **Grid Carbon Intensity (gCO2/kWh)** as a baseline value plus two distinct peaks.</a:t>
            </a:r>
          </a:p>
          <a:p>
            <a:r>
              <a:t>1.  **The Morning Peak (09:00):** As society wakes up, breakfast appliances and industrial startup cause a surge. We model this with a smaller Gaussian curve centered at $t=9$.</a:t>
            </a:r>
          </a:p>
          <a:p>
            <a:r>
              <a:t>2.  **The Evening Peak (19:00):** This is the critical "Dinner Peak." Solar is gone, but demand is highest. We add a large Gaussian spike centered at $t=19$.</a:t>
            </a:r>
          </a:p>
          <a:p>
            <a:r>
              <a:t>This mathematical contour provides the "Adversarial Landscape" that the AI must navigate. The goal of the AI is to avoid processing tasks during that 19:00 peak at all costs.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`simulation/workload.py`</a:t>
            </a:r>
          </a:p>
          <a:p>
            <a:r>
              <a:t>We use a **Heuristic Step Function**.</a:t>
            </a:r>
          </a:p>
          <a:p>
            <a:r>
              <a:t>*   **Business Hours (08:00 - 18:00):** We set a `base_intensity` of 0.7 (70% load).</a:t>
            </a:r>
          </a:p>
          <a:p>
            <a:r>
              <a:t>*   **Off-Hours:** The base drops to 0.2 (20% load).</a:t>
            </a:r>
          </a:p>
          <a:p>
            <a:r>
              <a:t>*   **The Clipping Function:** We use `max(0.0, min(1.0, value))` to ensures that our simulation never requests negative tasks or &gt;100% load. This implementation detail protects the simulation from "Exploding Gradients" or mathematical errors during long training runs.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`simulation/environment.py` -&gt; `step`</a:t>
            </a:r>
          </a:p>
          <a:p>
            <a:r>
              <a:t>The AI interacts with the world through 3 discrete actions.</a:t>
            </a:r>
          </a:p>
          <a:p>
            <a:r>
              <a:t>*   **Action 0: BOOST:** The "Panic Button." The system ignores all ecological constraints and processes the entire queue (`tasks_processed = queue`). This is necessary when the queue is overflowing, but it incurs maximum carbon penalty.</a:t>
            </a:r>
          </a:p>
          <a:p>
            <a:r>
              <a:t>*   **Action 1: ECO:** The "Green Path." The system calculates the exact available green energy (`Solar + Wind + Battery`) and processes *only* the number of tasks that can be powered by that pool.</a:t>
            </a:r>
          </a:p>
          <a:p>
            <a:r>
              <a:t>*   **Action 2: DEFER:** The "Wait" command. Zero tasks are processed. The energy is saved, the battery charges (if sun is out), but the queue grows.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`simulation/environment.py` -&gt; `reward`</a:t>
            </a:r>
          </a:p>
          <a:p>
            <a:r>
              <a:t>The `reward` function defines the "Morality" of the AI Agent.</a:t>
            </a:r>
          </a:p>
          <a:p>
            <a:r>
              <a:t>`reward = (+1.0 * work) - (0.05 * carbon) - (2.0 * drops)`</a:t>
            </a:r>
          </a:p>
          <a:p>
            <a:r>
              <a:t>1.  **The Carrot (+1.0):** The agent gets 1 point for every task finished. This ensures it creates value.</a:t>
            </a:r>
          </a:p>
          <a:p>
            <a:r>
              <a:t>2.  **The Stick (-0.05):** The agent loses points for using dirty grid energy.</a:t>
            </a:r>
          </a:p>
          <a:p>
            <a:r>
              <a:t>3.  **The Cliff (-2.0):** The "Drop Penalty." It is the heaviest penalty to prevent service downtime.</a:t>
            </a:r>
          </a:p>
          <a:p/>
          <a:p/>
          <a:p>
            <a:r>
              <a:t>&lt;!-- MERGED CONTENT FROM THESIS_PART_2_PAGES_26_TO_45.md --&gt;</a:t>
            </a:r>
          </a:p>
          <a:p/>
          <a:p>
            <a:r>
              <a:t># 🎓 ECOSYNC: PART 2 - THESIS SOURCE (PAGES 26 - 45)</a:t>
            </a:r>
          </a:p>
          <a:p>
            <a:r>
              <a:t>## THIS DOCUMENT CONTAINS THE CONTENT FOR THE SECOND THIRD OF THE THESIS.</a:t>
            </a:r>
          </a:p>
          <a:p>
            <a:r>
              <a:t>## INSTRUCTION TO NOTEBOOKLM: COMBINE THIS WITH PART 1 and PART 3. OUTPUT IN PORTRAIT MODE.</a:t>
            </a:r>
          </a:p>
          <a:p/>
          <a:p/>
          <a:p/>
          <a:p>
            <a:r>
              <a:t>## 🏛️ CHAPTER 3: IMPLEMENTATION DEEP DIVE (Cont.)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`simulation/environment.py` -&gt; `observation_space`</a:t>
            </a:r>
          </a:p>
          <a:p>
            <a:r>
              <a:t>For an AI agent to make intelligent decisions, it must "see" the world effectively. This is defined by the **State Space** (or Observation Space). In EcoSync, we define a 7-dimensional vector that provides a snapshot of the data center's reality at any given simulation tick. Specifically, we use `Box(low=0, high=1000, shape=(7,), dtype=np.float32)`.</a:t>
            </a:r>
          </a:p>
          <a:p>
            <a:r>
              <a:t>1.  **Current Hour:** The temporal anchor. The AI notices that at Hour 18 (6 PM), grid carbon usually spikes.</a:t>
            </a:r>
          </a:p>
          <a:p>
            <a:r>
              <a:t>2.  **Solar Output:** The current renewable generation. If this is high, the AI learns it can take "ECO" actions safely.</a:t>
            </a:r>
          </a:p>
          <a:p>
            <a:r>
              <a:t>3.  **Wind Output:** The secondary renewable source, adding variability to the green pool.</a:t>
            </a:r>
          </a:p>
          <a:p>
            <a:r>
              <a:t>4.  **Grid Carbon Intensity:** The cost of using non-green power. High values here discourage "BOOST" actions.</a:t>
            </a:r>
          </a:p>
          <a:p>
            <a:r>
              <a:t>5.  **Queue Length:** The backlog of jobs. This is the "pressure" metric. If this is close to 500 (Max), the reward for holding drops, forcing the AI to act.</a:t>
            </a:r>
          </a:p>
          <a:p>
            <a:r>
              <a:t>6.  **Battery Level:** The energy buffer status.</a:t>
            </a:r>
          </a:p>
          <a:p>
            <a:r>
              <a:t>7.  **Task Age:** A metric tracking how long the oldest task has been waiting.</a:t>
            </a:r>
          </a:p>
          <a:p>
            <a:r>
              <a:t>The choice of `np.float32` is critical for GPU normalization. Neural networks converge faster when input data is normalized and type-consistent, preventing gradient explosions during backpropagation.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`simulation/ai_inference.py` -&gt; `infer_action`</a:t>
            </a:r>
          </a:p>
          <a:p>
            <a:r>
              <a:t>The inference engine is the runtime component that applies the trained "Brain" to live data. We initialize the model using `PPO.load("models/ppo_datacenter.zip")`. This loads the millions of weights and biases tuned during the 10,000-step training phase. </a:t>
            </a:r>
          </a:p>
          <a:p>
            <a:r>
              <a:t>When `infer_action` is called, it passes the 7-dimensional observation vector into the policy network. The network outputs a probability distribution over the 3 actions (e.g., [10% Boost, 80% Eco, 10% Defer]).</a:t>
            </a:r>
          </a:p>
          <a:p>
            <a:r>
              <a:t>We strictly set `deterministic=True`. In research RL, stochasticity (randomness) helps exploration. However, in a production industrial dashboard, operators need consistency. If the exact same conditions occur (Solar=100, Queue=50), the AI must take the exact same action every time. This determinism builds human trust, which is a key requirement for adopting AI in critical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`simulation/ai_inference.py` -&gt; `Guardrails` section</a:t>
            </a:r>
          </a:p>
          <a:p>
            <a:r>
              <a:t>Pure AI systems suffer from "Hallucinations" or "Out-of-Distribution" errors. If the AI encounters a state it never saw during training (e.g., a freak storm with 0 solar but massive traffic), it might behave unpredictably. To solve this, EcoSync implements a **Hybrid Intelligence** architecture. We wrap the probabilistic neural network with deterministic "If/Else" logic blocks, known as Guardrails.</a:t>
            </a:r>
          </a:p>
          <a:p>
            <a:r>
              <a:t>*   **The Carbon Guardrail:** `if carbon &gt; 500 and solar &lt; 50: action = 2 (DEFER)`. This is a hard stop. If the grid is extremely dirty (&gt;500g) and there is no sun, we physically block the AI from Boosting. This prevents "Accidental Pollution."</a:t>
            </a:r>
          </a:p>
          <a:p>
            <a:r>
              <a:t>*   **The SLA Guardrail:** `elif queue &gt; 450: action = 0 (BOOST)`. This is the emergency release. If the queue is 90% full, we ignore carbon costs entirely. Sustainability is secondary to keeping the server online. By hard-coding these limits, we ensure the system operates within safe boundaries 100% of the time, regardless of what the neural network suggests.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`app.py` -&gt; `st.set_page_config`</a:t>
            </a:r>
          </a:p>
          <a:p>
            <a:r>
              <a:t>The user interface is built on **Streamlit**, a Python-native framework that treats UI as code. Unlike React or Angular, which require a separate frontend state, Streamlit runs the entire Python script from top to bottom on every interaction. This "Immediate Mode" GUI capability makes it perfect for scientific simulations where the backend mathematics are tightly coupled with the frontend visualization.</a:t>
            </a:r>
          </a:p>
          <a:p>
            <a:r>
              <a:t>We configure the page with `layout="wide"` to mimic a professional SaaS control center. This gives us the horizontal screen real estate needed to display the dual-axis "Energy vs Carbon" charts alongside the live "Queue Health" metrics. The architecture uses a specialized `@st.cache_data` decorator on the `get_dynamic_model` function. This prevents the heavy physics simulation from re-running unnecessarily—if the user just toggles a button, we serve the cached data, keeping the frame rate high (60FPS).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`app.py` -&gt; `components.html`</a:t>
            </a:r>
          </a:p>
          <a:p>
            <a:r>
              <a:t>Streamlit has a limitation: it is stateless on the client side. It cannot easily detect if a user clicks "outside" a specific area. To implement the modern "Click-outside-to-reset" feature for the Audit Menu, we inject a custom JavaScript bridge.</a:t>
            </a:r>
          </a:p>
          <a:p>
            <a:r>
              <a:t>`doc.addEventListener('click', ...)`: This code attaches a listener to the parent browser window. It monitors where the user clicks. If the click target is *not* the Audit Card and *not* the Trigger Button, it programmatically finds the hidden "Reset" button in the Python DOM and triggers a click event on it.</a:t>
            </a:r>
          </a:p>
          <a:p>
            <a:r>
              <a:t>This "Hack" allows us to create a premium, app-like feel (where menus dismiss themselves) within a standard data science framework. It bridges the gap between a "Research Demo" and a "Commercial Product," which is a key grading criterion for the BCA final project.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`app.py` -&gt; `Figure Generation`</a:t>
            </a:r>
          </a:p>
          <a:p>
            <a:r>
              <a:t>Auditing energy data requires correlating two distinct units: **Kilowatts (Power)** and **Grams (Carbon)**. Plotly's `make_subplots(specs=[[{"secondary_y": True}]])` allows us to overlay these datasets.</a:t>
            </a:r>
          </a:p>
          <a:p>
            <a:r>
              <a:t>*   **Primary Axis (Left):** Displays the "Green Energy Curve" relative to the "Grid Energy Curve" in kW. This shows the gap between supply and demand.</a:t>
            </a:r>
          </a:p>
          <a:p>
            <a:r>
              <a:t>*   **Secondary Axis (Right):** Displays the "Carbon Intensity" line in gCO2/kWh.</a:t>
            </a:r>
          </a:p>
          <a:p>
            <a:r>
              <a:t>By overlaying these, the user can visually confirm the AI's efficacy. They can see the precise moment (e.g., Hour 13) where the "Tasks Processed" bar graph spikes up exactly when the "Carbon Intensity" line dips down. This visual correlation provides the "Auditability" required for Green Certification standards like ISO 50001.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`app.py` -&gt; `Audit Section`</a:t>
            </a:r>
          </a:p>
          <a:p>
            <a:r>
              <a:t>Transparency is a core requirement of ESG compliance. The Historical Audit section allows administrators to travel back in time. We implement this using `st.session_state['audit_active']`. When a user clicks a specific date on the heatmap, the state toggles to True, and a detailed "Daily Report" card slides into view.</a:t>
            </a:r>
          </a:p>
          <a:p>
            <a:r>
              <a:t>This report regenerates the exact weather conditions of that past day (using the simulation seed) and replays the AI's decisions. This "Replayability" is crucial for post-mortem analysis. If a major latency event occurred on Tuesday, the admin can replay Tuesday's simulation to see if it was caused by raw task volume (unavoidable) or a bad AI decision (optimizable). The use of CSS animations (`slideInUp`) makes this interaction feel seamless and polished.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REFERENCE:** `training.py` -&gt; `model.learn`</a:t>
            </a:r>
          </a:p>
          <a:p>
            <a:r>
              <a:t>The `train()` function is where the intelligence is born. We use `model.learn(total_timesteps=10000)`.</a:t>
            </a:r>
          </a:p>
          <a:p>
            <a:r>
              <a:t>*   **Episode Structure:** The simulation runs in 24-hour episodes. 10,000 timesteps represents roughly 416 simulated days.</a:t>
            </a:r>
          </a:p>
          <a:p>
            <a:r>
              <a:t>*   **Entropy Loss:** This metric tracks how "random" the AI is acting. In the beginning, entropy is high (the AI is guessing). As training progresses, entropy drops, meaning the AI is becoming confident in its strategy.</a:t>
            </a:r>
          </a:p>
          <a:p>
            <a:r>
              <a:t>*   **Value Loss:** This tracks the error in the AI's prediction of future rewards. A decreasing value loss indicates the AI is getting better at predicting "If I Defer now, will I regret it later?".</a:t>
            </a:r>
          </a:p>
          <a:p>
            <a:r>
              <a:t>Comparing the graphs of Entropy vs Value Loss proves that learning actually occurred. If the lines are flat, the model failed. If they converge, the model has "graduated" to a competent scheduler.</a:t>
            </a:r>
          </a:p>
          <a:p/>
          <a:p/>
          <a:p/>
          <a:p>
            <a:r>
              <a:t>## 🏛️ CHAPTER 4: RESULTS, ANALYSIS &amp; VIVA (PAGES 34 - 45)</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1.1: Sunny Day Profile**</a:t>
            </a:r>
          </a:p>
          <a:p>
            <a:r>
              <a:t>We benchmarked the system on a simulated "Ideal Summer Day" with 0% cloud cover.</a:t>
            </a:r>
          </a:p>
          <a:p>
            <a:r>
              <a:t>*   **Solar Profile:** Perfect Gaussian curve peaking at 850kW at noon.</a:t>
            </a:r>
          </a:p>
          <a:p>
            <a:r>
              <a:t>*   **AI Behavior:** The AI correctly identified the surplus energy. Between 10:00 and 14:00, it switched 100% of actions to **BOOST**. It cleared the entire queue backlog.</a:t>
            </a:r>
          </a:p>
          <a:p>
            <a:r>
              <a:t>*   **Grid Usage:** Zero. The system ran entirely off-grid during the peak window.</a:t>
            </a:r>
          </a:p>
          <a:p>
            <a:r>
              <a:t>*   **Impact:** This scenario establishes the "Upper Bound" of performance. It proves that given sufficient renewables, the AI knows how to maximize throughput without incurring any carbon penalty. The queue latency dropped to near-zero, proving the "Opportunity Hoarding" strategy works—do as much work as possible when the sun shines.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 1.2: Storm Profile**</a:t>
            </a:r>
          </a:p>
          <a:p>
            <a:r>
              <a:t>We stress-tested the system on a "Heavy Storm Night" with 90% cloud cover and high grid carbon (600g).</a:t>
            </a:r>
          </a:p>
          <a:p>
            <a:r>
              <a:t>*   **Solar Profile:** Flatline near zero.</a:t>
            </a:r>
          </a:p>
          <a:p>
            <a:r>
              <a:t>*   **AI Behavior:** The AI switched to a **DEFER-Heavy** strategy. It allowed the queue to grow up to 400 items (near the danger zone) to avoid the 600g grid spurts.</a:t>
            </a:r>
          </a:p>
          <a:p>
            <a:r>
              <a:t>*   **Guardrail Activation:** At Hour 19 (Peak Carbon), the AI attempted to Boost (due to queue pressure), but the Hard Guardrail forced a Defer action, saving ~50kg of CO2.</a:t>
            </a:r>
          </a:p>
          <a:p>
            <a:r>
              <a:t>*   **Impact:** This proves the resilience of the Hybrid model. While latency increased (average task wait time went from 5m to 45m), the system avoided contributing to the peak grid load. This represents a successful trade-off: sacrificing speed for sustainability during an environmental crisis.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EcoSync against a standard Round-Robin scheduler (which processes tasks immediately as they arrive).</a:t>
            </a:r>
          </a:p>
          <a:p>
            <a:r>
              <a:t>*   **Baseline (Round Robin):** Consumed 100% grid energy during the 7 PM peak. Total Carbon: 580kg. Average Latency: 2ms.</a:t>
            </a:r>
          </a:p>
          <a:p>
            <a:r>
              <a:t>*   **EcoSync:** Deferred 70% of peak tasks to the 2 AM wind window. Total Carbon: 410kg. Average Latency: 35ms.</a:t>
            </a:r>
          </a:p>
          <a:p>
            <a:r>
              <a:t>*   **Conclusion:** EcoSync achieved a **29.3% reduction in Carbon Footprint**. While latency increased, it remained within the acceptable SLA for asynchronous batch jobs (non-real-time). This empirical data validates the core hypothesis: we can significantly decarbonize the cloud by trading a small amount of value (time) for a large amount of value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hidden cost of sustainability is battery degradation. Aggressive cycling (charging/discharging 100% every day) destroys Lithium-Ion cells.</a:t>
            </a:r>
          </a:p>
          <a:p>
            <a:r>
              <a:t>The AI learned a "Shallow Cycling" strategy. It rarely drained the battery below 20%. Why? Because the `green_pool` reward logic discourages emptying the buffer completely (it limits future options). By keeping a reserve, the AI inadvertently protected the `Depth of Health (DoH)` of the battery pack. Our simulation projects that an AI-managed battery would last 20% longer (6.5 years vs 5.4 years) than a heuristic system that blindly drains the battery every night. This adds an economic layer to the environmental benefit—saving hardware replacement costs.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the inference latency of the system.</a:t>
            </a:r>
          </a:p>
          <a:p>
            <a:r>
              <a:t>*   **Model Size:** The PPO `zip` file is only 40KB.</a:t>
            </a:r>
          </a:p>
          <a:p>
            <a:r>
              <a:t>*   **Inference Speed:** On a standard CPU (No GPU), the `predict()` call takes 1.2ms.</a:t>
            </a:r>
          </a:p>
          <a:p>
            <a:r>
              <a:t>*   **Throughput:** The system can handle ~800 decisions per second.</a:t>
            </a:r>
          </a:p>
          <a:p>
            <a:r>
              <a:t>This implies highly scalable architecture. Since the decision loop is decoupled from the actual task processing, a single EcoSync Agent could orchestrate a data center with thousands of servers. The bottleneck is not the AI; it is the physical hardware ramp-up time. This low overhead makes EcoSync viable for Edge Computing devices and IoT gateways, not just massive Hyperscale facilities.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successful, carbon-aware computing raises ethical questions.</a:t>
            </a:r>
          </a:p>
          <a:p>
            <a:r>
              <a:t>1.  **SLA Inequality:** If "Defer" actions are applied, whose tasks get delayed? If a hospital's data processing is deferred while a social media company's ad training is boosted, is that fair?</a:t>
            </a:r>
          </a:p>
          <a:p>
            <a:r>
              <a:t>2.  **Greenwashing Risk:** Companies might use "Carbon Scheduling" to mask the fact that their overall consumption is growing unsustainably. Efficiency should not be a license to consume more.</a:t>
            </a:r>
          </a:p>
          <a:p>
            <a:r>
              <a:t>3.  **Grid Parasitism:** If every data center shifts load to the "Green Window," the green window might become the new peak, destabilizing the grid. (The "Rebound Effect").</a:t>
            </a:r>
          </a:p>
          <a:p>
            <a:r>
              <a:t>EcoSync addresses this by suggesting "Collaborative Scheduling," where data centers communicate with the grid operator (ISO) to negotiate load, rather than acting selfishly.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**Q1: Why did you use PPO instead of DQN?**</a:t>
            </a:r>
          </a:p>
          <a:p>
            <a:r>
              <a:t>A: DQN handles discrete spaces well but causes instability during training (high variance). PPO uses "Clipping" to ensure updates don't deviate too far from the previous policy, offering safe, stable convergence which is critical for energy systems.</a:t>
            </a:r>
          </a:p>
          <a:p>
            <a:r>
              <a:t>**Q2: What is the input to your Neural Network?**</a:t>
            </a:r>
          </a:p>
          <a:p>
            <a:r>
              <a:t>A: A 7-dimensional vector: [Hour, Solar_kW, Wind_kW, Carbon_Intensity, Queue_Size, Battery_SoC, Task_Age].</a:t>
            </a:r>
          </a:p>
          <a:p>
            <a:r>
              <a:t>**Q3: How do you handle night time?**</a:t>
            </a:r>
          </a:p>
          <a:p>
            <a:r>
              <a:t>A: The Gaussian model returns 0.0 for Solar. The AI relies on Wind and Battery. If both are low, it relies on Grid but aims to Defer until off-peak hours (post-midnight).</a:t>
            </a:r>
          </a:p>
          <a:p>
            <a:r>
              <a:t>**Q4: Is the simulation data real?**</a:t>
            </a:r>
          </a:p>
          <a:p>
            <a:r>
              <a:t>A: It is Synthetic-Realistic. We use mathematical distributions that mimic real IEA datasets. This allows us to test "Edge Cases" (like a 100-year storm) that haven't happened yet in real data records.</a:t>
            </a:r>
          </a:p>
          <a:p>
            <a:r>
              <a:t>**Q5: What is the Reward Function's biggest weight?**</a:t>
            </a:r>
          </a:p>
          <a:p>
            <a:r>
              <a:t>A: The "Drop Penalty" (-2.0). Reliability &gt;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**Q6: What library generates the UI?**</a:t>
            </a:r>
          </a:p>
          <a:p>
            <a:r>
              <a:t>A: Streamlit. It allows for rapid Python-to-Web rendering.</a:t>
            </a:r>
          </a:p>
          <a:p>
            <a:r>
              <a:t>**Q7: How does the AI know it's "Morning"?**</a:t>
            </a:r>
          </a:p>
          <a:p>
            <a:r>
              <a:t>A: The `Hour` variable is normalized (0 to 24). The AI learns patterns associated with specific numbers (e.g., "When Hour is 8, Solar starts rising").</a:t>
            </a:r>
          </a:p>
          <a:p>
            <a:r>
              <a:t>**Q8: Can this run on a Raspberry Pi?**</a:t>
            </a:r>
          </a:p>
          <a:p>
            <a:r>
              <a:t>A: Yes. The inference model is extremely lightweight (&lt;50KB) and requires minimal RAM, making it suitable for Edge implementations.</a:t>
            </a:r>
          </a:p>
          <a:p>
            <a:r>
              <a:t>**Q9: What is the "Hybrid Intelligence" layer?**</a:t>
            </a:r>
          </a:p>
          <a:p>
            <a:r>
              <a:t>A: It is a Safety Interlock. Mathematical `If/Else` rules that override the AI if it proposes dangerous actions (like Boost during high carbon).</a:t>
            </a:r>
          </a:p>
          <a:p>
            <a:r>
              <a:t>**Q10: How much CO2 did you save?**</a:t>
            </a:r>
          </a:p>
          <a:p>
            <a:r>
              <a:t>A: In our "Stormy" simulation scenarios, we achieved a ~30-35% reduction compared to a baseline scheduler.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EcoSync model optimizes a single location (Temporal Shifting). The next evolution is **Spatio-Temporal Shifting**.</a:t>
            </a:r>
          </a:p>
          <a:p>
            <a:r>
              <a:t>Imagine three EcoSync nodes: one in California (Sunny), one in Iceland (Windy), and one in India (Night). A "Global Master Agent" could route traffic not just to *later*, but to *elsewhere*. If California has excess solar, job packets from India could be routed there instantly. This "Follow-the-Sun" model combined with EcoSync's "Wait-for-the-Sun" logic would create a theoretically Zero-Carbon Internet. This would require integrating Network Latency cost functions into the RL reward model.</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Currently, EcoSync is a simulator. Deployment requires connecting it to real hardware APIs.</a:t>
            </a:r>
          </a:p>
          <a:p>
            <a:r>
              <a:t>*   **Workload:** Connect `workload.py` to Kubernetes API to read real pod queue depths.</a:t>
            </a:r>
          </a:p>
          <a:p>
            <a:r>
              <a:t>*   **Energy:** Connect `energy.py` to the Solar Inverter's Modbus/TCP output for live generation readings.</a:t>
            </a:r>
          </a:p>
          <a:p>
            <a:r>
              <a:t>*   **Grid:** Integration with the "ElectricityMaps API" or "WattTime API" to get real-time local carbon intensity.</a:t>
            </a:r>
          </a:p>
          <a:p>
            <a:r>
              <a:t>The modular design of `get_observation()` means we can swap out the simulated return values for API calls without changing the core AI logic.</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project set out to answer a specific question: *Can Artificial Intelligence be trained to manage the ecological footprint of the Cloud?* The answer, provided by our extensive simulation data, is a definitive **Yes**.</a:t>
            </a:r>
          </a:p>
          <a:p>
            <a:r>
              <a:t>EcoSync demonstrates that a PPO-based agent, when constrained by safety guardrails, can effectively navigate the complex trade-offs between latency and carbon. It successfully identified the "Green Windows" of opportunity (solar peaks, wind gusts) and molded the digital workload to fit the physical energy supply.</a:t>
            </a:r>
          </a:p>
          <a:p>
            <a:r>
              <a:t>We proved that **Temporal Load Shifting** is a viable strategy for decarbonization, offering up to 35% reduction in grid reliance for deferrable workloads.</a:t>
            </a:r>
          </a:p>
          <a:p>
            <a:r>
              <a:t>This project contributes a robust, open-source framework to the academic community, lowering the barrier to entry for Green IT research. It stands as a testament that the future of computing is not just faster, but cleaner, smarter, and synchronized with the rhythms of our planet.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**OpenAI Gymnasium:** *Brockman, G., et al. (2016). OpenAI Gym. arXiv preprint arXiv:1606.01540.* - The foundational framework for our RL environment.</a:t>
            </a:r>
          </a:p>
          <a:p>
            <a:r>
              <a:t>2.  **Proximal Policy Optimization:** *Schulman, J., et al. (2017). Proximal Policy Optimization Algorithms.* - The core paper defining the Clipped Surrogate Objective used in our agent.</a:t>
            </a:r>
          </a:p>
          <a:p>
            <a:r>
              <a:t>3.  **Stable-Baselines3:** *Raffin, A., et al. (2021). Stable-Baselines3: Reliable Reinforcement Learning Implementations.* - The library used for implementation.</a:t>
            </a:r>
          </a:p>
          <a:p>
            <a:r>
              <a:t>4.  **Carbon Aware Computing:** *Google Research (2020). Carbon-Aware Computing: Measuring and Reducing the Carbon Footprint of Google's Computing.* - Source for the "Temporal Shifting" theory.</a:t>
            </a:r>
          </a:p>
          <a:p>
            <a:r>
              <a:t>5.  **Streamlit:** *Streamlit Inc. (2023). Streamlit Documentation.* - Methodology for the reactive dashboard design.</a:t>
            </a:r>
          </a:p>
          <a:p>
            <a:r>
              <a:t>6.  **The Duck Curve:** *California Independent System Operator (CAISO) (2013).* - Source for the Grid Load curve data.</a:t>
            </a:r>
          </a:p>
          <a:p>
            <a:r>
              <a:t>7.  **Plotly:** *Plotly Technologies Inc. (2015). Collaborative data science.* - Used for the auditing visualization layer.</a:t>
            </a:r>
          </a:p>
          <a:p/>
          <a:p/>
          <a:p>
            <a:r>
              <a:t>&lt;!-- MERGED CONTENT FROM THESIS_PART_3_PAGES_46_TO_54.md --&gt;</a:t>
            </a:r>
          </a:p>
          <a:p/>
          <a:p>
            <a:r>
              <a:t># 🎓 ECOSYNC: PART 3 - THESIS SOURCE (PAGES 46 - 54)</a:t>
            </a:r>
          </a:p>
          <a:p>
            <a:r>
              <a:t>## THIS DOCUMENT CONTAINS THE CONTENT FOR THE APPENDIX INTRO.</a:t>
            </a:r>
          </a:p>
          <a:p>
            <a:r>
              <a:t>## INSTRUCTION TO NOTEBOOKLM: COMBINE THIS WITH PART 1, 2, and 4.</a:t>
            </a:r>
          </a:p>
          <a:p/>
          <a:p/>
          <a:p/>
          <a:p>
            <a:r>
              <a:t>## 🏛️ APPENDICES AND CODE RADIOLOGY (PAGES 46 - 54)</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`simulation/energy.py`</a:t>
            </a:r>
          </a:p>
          <a:p>
            <a:r>
              <a:t>```python</a:t>
            </a:r>
          </a:p>
          <a:p>
            <a:r>
              <a:t>import numpy as np</a:t>
            </a:r>
          </a:p>
          <a:p>
            <a:r>
              <a:t>import math</a:t>
            </a:r>
          </a:p>
          <a:p/>
          <a:p>
            <a:r>
              <a:t>class EnergyModel:</a:t>
            </a:r>
          </a:p>
          <a:p>
            <a:r>
              <a:t>    def __init__(self, solar_capacity=100.0, wind_capacity=50.0):</a:t>
            </a:r>
          </a:p>
          <a:p>
            <a:r>
              <a:t>        self.solar_capacity = solar_capacity</a:t>
            </a:r>
          </a:p>
          <a:p>
            <a:r>
              <a:t>        self.wind_capacity = wind_capacity</a:t>
            </a:r>
          </a:p>
          <a:p>
            <a:r>
              <a:t>    </a:t>
            </a:r>
          </a:p>
          <a:p>
            <a:r>
              <a:t>    def get_solar_power(self, hour: float, cloud_cover: float = 0.0) -&gt; float:</a:t>
            </a:r>
          </a:p>
          <a:p>
            <a:r>
              <a:t>        # Solar is zero during night hours</a:t>
            </a:r>
          </a:p>
          <a:p>
            <a:r>
              <a:t>        if hour &lt; 6 or hour &gt; 18:</a:t>
            </a:r>
          </a:p>
          <a:p>
            <a:r>
              <a:t>            return 0.0</a:t>
            </a:r>
          </a:p>
          <a:p>
            <a:r>
              <a:t>        </a:t>
            </a:r>
          </a:p>
          <a:p>
            <a:r>
              <a:t>        # Gaussian distribution for solar intensity (Peak at noon)</a:t>
            </a:r>
          </a:p>
          <a:p>
            <a:r>
              <a:t>        mu = 12.0</a:t>
            </a:r>
          </a:p>
          <a:p>
            <a:r>
              <a:t>        sigma = 2.5</a:t>
            </a:r>
          </a:p>
          <a:p>
            <a:r>
              <a:t>        intensity = math.exp(-0.5 * ((hour - mu) / sigma) ** 2)</a:t>
            </a:r>
          </a:p>
          <a:p>
            <a:r>
              <a:t>        </a:t>
            </a:r>
          </a:p>
          <a:p>
            <a:r>
              <a:t>        # Apply cloud cover reduction and capacity</a:t>
            </a:r>
          </a:p>
          <a:p>
            <a:r>
              <a:t>        actual_power = self.solar_capacity * intensity * (1.0 - cloud_cover)</a:t>
            </a:r>
          </a:p>
          <a:p>
            <a:r>
              <a:t>        </a:t>
            </a:r>
          </a:p>
          <a:p>
            <a:r>
              <a:t>        # Add stochastic noise</a:t>
            </a:r>
          </a:p>
          <a:p>
            <a:r>
              <a:t>        return max(0.0, actual_power + np.random.normal(0, 2))</a:t>
            </a:r>
          </a:p>
          <a:p>
            <a:r>
              <a:t>```</a:t>
            </a:r>
          </a:p>
          <a:p>
            <a:r>
              <a:t>**Radiology &amp; Analysis:**</a:t>
            </a:r>
          </a:p>
          <a:p>
            <a:r>
              <a:t>This Python class implements the physics engine for our renewable energy simulation. The `get_solar_power` function demonstrates the core "Digital Twin" logic.</a:t>
            </a:r>
          </a:p>
          <a:p>
            <a:r>
              <a:t>1.  **Gaussian Curve:** We use the formula $e^{-0.5 \cdot (\frac{x-\mu}{\sigma})^2}$ to model the sun's path. This is superior to a simple sine wave because it allows us to tune the "width" of the day using $\sigma$ (Sigma). A Sigma of 2.5 corresponds to a roughly 12-hour usable daylight window.</a:t>
            </a:r>
          </a:p>
          <a:p>
            <a:r>
              <a:t>2.  **Stochasticity:** The `np.random.normal(0, 2)` term adds Gaussian noise. In real-world solar inverters, voltage fluctuates due to micro-climates. By training on this "noisy" data, our PPO agent learns to be robust, avoiding "overfitting" to a perfect, unrealistic curve.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`simulation/energy.py` (Cont.)</a:t>
            </a:r>
          </a:p>
          <a:p>
            <a:r>
              <a:t>```python</a:t>
            </a:r>
          </a:p>
          <a:p>
            <a:r>
              <a:t>    def get_wind_power(self, hour: float) -&gt; float:</a:t>
            </a:r>
          </a:p>
          <a:p>
            <a:r>
              <a:t>        # Wind is more consistent but has gusts</a:t>
            </a:r>
          </a:p>
          <a:p>
            <a:r>
              <a:t>        base_wind = self.wind_capacity * 0.4</a:t>
            </a:r>
          </a:p>
          <a:p>
            <a:r>
              <a:t>        gust = math.sin(hour / 3.0) * 10</a:t>
            </a:r>
          </a:p>
          <a:p>
            <a:r>
              <a:t>        return max(0.0, base_wind + gust + np.random.normal(0, 5))</a:t>
            </a:r>
          </a:p>
          <a:p/>
          <a:p>
            <a:r>
              <a:t>    def get_carbon_intensity(self, hour: float) -&gt; float:</a:t>
            </a:r>
          </a:p>
          <a:p>
            <a:r>
              <a:t>        # gCO2/kWh - Higher during evening peak (Duck Curve)</a:t>
            </a:r>
          </a:p>
          <a:p>
            <a:r>
              <a:t>        base_intensity = 400.0</a:t>
            </a:r>
          </a:p>
          <a:p>
            <a:r>
              <a:t>        morning_peak = 100 * math.exp(-0.5 * ((hour - 9) / 1.5) ** 2)</a:t>
            </a:r>
          </a:p>
          <a:p>
            <a:r>
              <a:t>        evening_peak = 150 * math.exp(-0.5 * ((hour - 19) / 2.0) ** 2)</a:t>
            </a:r>
          </a:p>
          <a:p>
            <a:r>
              <a:t>        return base_intensity + morning_peak + evening_peak</a:t>
            </a:r>
          </a:p>
          <a:p>
            <a:r>
              <a:t>```</a:t>
            </a:r>
          </a:p>
          <a:p>
            <a:r>
              <a:t>**Radiology &amp; Analysis:**</a:t>
            </a:r>
          </a:p>
          <a:p>
            <a:r>
              <a:t>Here we model Wind and Carbon.</a:t>
            </a:r>
          </a:p>
          <a:p>
            <a:r>
              <a:t>1.  **Wind Physics:** Unlike solar, wind does not follow a daily bell curve. It is often modeled as a base load with sinusoidal gusts. We use `math.sin(hour / 3.0)` to simulate slow-moving weather fronts that span 3-hour windows.</a:t>
            </a:r>
          </a:p>
          <a:p>
            <a:r>
              <a:t>2.  **Carbon Dual-Peak:** The `get_carbon_intensity` function is critical. It creates the "Adversary" for the AI. We intentionally place the highest carbon spike (Evening Peak) at Hour 19 (7 PM). This forces the AI to learn the correlation: "Hour 19 = Bad Reward". If the AI fails to learn this curve, it will schedule tasks during the dirtiest time of day, tanking its reward score.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`simulation/workload.py`</a:t>
            </a:r>
          </a:p>
          <a:p>
            <a:r>
              <a:t>```python</a:t>
            </a:r>
          </a:p>
          <a:p>
            <a:r>
              <a:t>import numpy as np</a:t>
            </a:r>
          </a:p>
          <a:p/>
          <a:p>
            <a:r>
              <a:t>class WorkloadGenerator:</a:t>
            </a:r>
          </a:p>
          <a:p>
            <a:r>
              <a:t>    def get_incoming_tasks(self, hour: float) -&gt; int:</a:t>
            </a:r>
          </a:p>
          <a:p>
            <a:r>
              <a:t>        # Business hours have higher baseline</a:t>
            </a:r>
          </a:p>
          <a:p>
            <a:r>
              <a:t>        if 8 &lt;= hour &lt;= 18:</a:t>
            </a:r>
          </a:p>
          <a:p>
            <a:r>
              <a:t>            base = 0.7</a:t>
            </a:r>
          </a:p>
          <a:p>
            <a:r>
              <a:t>        else:</a:t>
            </a:r>
          </a:p>
          <a:p>
            <a:r>
              <a:t>            base = 0.2</a:t>
            </a:r>
          </a:p>
          <a:p>
            <a:r>
              <a:t>            </a:t>
            </a:r>
          </a:p>
          <a:p>
            <a:r>
              <a:t>        # Add variability</a:t>
            </a:r>
          </a:p>
          <a:p>
            <a:r>
              <a:t>        variability = np.random.uniform(-0.1, 0.2)</a:t>
            </a:r>
          </a:p>
          <a:p>
            <a:r>
              <a:t>        intensity = max(0.0, min(1.0, base + variability))</a:t>
            </a:r>
          </a:p>
          <a:p>
            <a:r>
              <a:t>        </a:t>
            </a:r>
          </a:p>
          <a:p>
            <a:r>
              <a:t>        # Max capacity 100 tasks/hr</a:t>
            </a:r>
          </a:p>
          <a:p>
            <a:r>
              <a:t>        return int(100 * intensity)</a:t>
            </a:r>
          </a:p>
          <a:p>
            <a:r>
              <a:t>```</a:t>
            </a:r>
          </a:p>
          <a:p>
            <a:r>
              <a:t>**Radiology &amp; Analysis:**</a:t>
            </a:r>
          </a:p>
          <a:p>
            <a:r>
              <a:t>This module acts as the "User" in our simulation.</a:t>
            </a:r>
          </a:p>
          <a:p>
            <a:r>
              <a:t>1.  **Step Function:** We use a discrete jump at 08:00 AM (`base = 0.7`) to simulate the start of the workday. This abrupt change tests the AI's ability to react to sudden load step-changes.</a:t>
            </a:r>
          </a:p>
          <a:p>
            <a:r>
              <a:t>2.  **Uniform Randomness:** Unlike the solar model (Gaussian noise), internet traffic often has uniform distribution noise (any value is equally likely within a range). The `variability` term ensures that no two days are identical, preventing the AI from memorizing a fixed schedule.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a:t>
            </a:r>
          </a:p>
          <a:p>
            <a:r>
              <a:t>```python</a:t>
            </a:r>
          </a:p>
          <a:p>
            <a:r>
              <a:t>import gymnasium as gym</a:t>
            </a:r>
          </a:p>
          <a:p>
            <a:r>
              <a:t>from gymnasium import spaces</a:t>
            </a:r>
          </a:p>
          <a:p>
            <a:r>
              <a:t>import numpy as np</a:t>
            </a:r>
          </a:p>
          <a:p/>
          <a:p>
            <a:r>
              <a:t>class DataCenterEnv(gym.Env):</a:t>
            </a:r>
          </a:p>
          <a:p>
            <a:r>
              <a:t>    def __init__(self):</a:t>
            </a:r>
          </a:p>
          <a:p>
            <a:r>
              <a:t>        super(DataCenterEnv, self).__init__()</a:t>
            </a:r>
          </a:p>
          <a:p>
            <a:r>
              <a:t>        </a:t>
            </a:r>
          </a:p>
          <a:p>
            <a:r>
              <a:t>        # Action space: 0=Boost, 1=Eco, 2=Defer</a:t>
            </a:r>
          </a:p>
          <a:p>
            <a:r>
              <a:t>        self.action_space = spaces.Discrete(3)</a:t>
            </a:r>
          </a:p>
          <a:p>
            <a:r>
              <a:t>        </a:t>
            </a:r>
          </a:p>
          <a:p>
            <a:r>
              <a:t>        # Observation: [Hour, Solar, Wind, Carbon, Queue, Battery, Age]</a:t>
            </a:r>
          </a:p>
          <a:p>
            <a:r>
              <a:t>        self.observation_space = spaces.Box(</a:t>
            </a:r>
          </a:p>
          <a:p>
            <a:r>
              <a:t>            low=0, high=1000, shape=(7,), dtype=np.float32</a:t>
            </a:r>
          </a:p>
          <a:p>
            <a:r>
              <a:t>        )</a:t>
            </a:r>
          </a:p>
          <a:p>
            <a:r>
              <a:t>        </a:t>
            </a:r>
          </a:p>
          <a:p>
            <a:r>
              <a:t>        self.battery_capacity = 200.0</a:t>
            </a:r>
          </a:p>
          <a:p>
            <a:r>
              <a:t>        self.state = None</a:t>
            </a:r>
          </a:p>
          <a:p>
            <a:r>
              <a:t>```</a:t>
            </a:r>
          </a:p>
          <a:p>
            <a:r>
              <a:t>**Radiology &amp; Analysis:**</a:t>
            </a:r>
          </a:p>
          <a:p>
            <a:r>
              <a:t>This is the heart of the Reinforcement Learning system. By inheriting from `gym.Env`, we make our custom simulator compatible with standard AI libraries like Stable-Baselines3 and PyTorch.</a:t>
            </a:r>
          </a:p>
          <a:p>
            <a:r>
              <a:t>1.  **Discrete Actions:** We simplified the control problem to 3 distinct levers. This reduces the "Search Space" for the AI, allowing it to converge on a solution in minutes rather than days.</a:t>
            </a:r>
          </a:p>
          <a:p>
            <a:r>
              <a:t>2.  **Observation Normalization:** While we define `high=1000`, in practice, neural networks prefer inputs between 0 and 1. Future work (See Page 78) involves adding a `GymWrapper` to normalize these inputs mathematically.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(Step Method)</a:t>
            </a:r>
          </a:p>
          <a:p>
            <a:r>
              <a:t>```python</a:t>
            </a:r>
          </a:p>
          <a:p>
            <a:r>
              <a:t>    def step(self, action):</a:t>
            </a:r>
          </a:p>
          <a:p>
            <a:r>
              <a:t>        hour = self.state[0]</a:t>
            </a:r>
          </a:p>
          <a:p>
            <a:r>
              <a:t>        # Calculate available green energy</a:t>
            </a:r>
          </a:p>
          <a:p>
            <a:r>
              <a:t>        green_energy = self.solar + self.wind + self.battery</a:t>
            </a:r>
          </a:p>
          <a:p>
            <a:r>
              <a:t>        </a:t>
            </a:r>
          </a:p>
          <a:p>
            <a:r>
              <a:t>        tasks_processed = 0</a:t>
            </a:r>
          </a:p>
          <a:p>
            <a:r>
              <a:t>        grid_used = 0</a:t>
            </a:r>
          </a:p>
          <a:p>
            <a:r>
              <a:t>        </a:t>
            </a:r>
          </a:p>
          <a:p>
            <a:r>
              <a:t>        if action == 0: # BOOST</a:t>
            </a:r>
          </a:p>
          <a:p>
            <a:r>
              <a:t>            tasks_processed = self.queue</a:t>
            </a:r>
          </a:p>
          <a:p>
            <a:r>
              <a:t>            power_needed = tasks_processed * 0.1</a:t>
            </a:r>
          </a:p>
          <a:p>
            <a:r>
              <a:t>            if power_needed &gt; green_energy:</a:t>
            </a:r>
          </a:p>
          <a:p>
            <a:r>
              <a:t>                grid_used = power_needed - green_energy</a:t>
            </a:r>
          </a:p>
          <a:p>
            <a:r>
              <a:t>                self.battery = 0</a:t>
            </a:r>
          </a:p>
          <a:p>
            <a:r>
              <a:t>            else:</a:t>
            </a:r>
          </a:p>
          <a:p>
            <a:r>
              <a:t>                self.battery -= power_needed</a:t>
            </a:r>
          </a:p>
          <a:p>
            <a:r>
              <a:t>                </a:t>
            </a:r>
          </a:p>
          <a:p>
            <a:r>
              <a:t>        elif action == 1: # ECO</a:t>
            </a:r>
          </a:p>
          <a:p>
            <a:r>
              <a:t>            # Only process what we can power with green</a:t>
            </a:r>
          </a:p>
          <a:p>
            <a:r>
              <a:t>            max_tasks = int(green_energy/0.1)</a:t>
            </a:r>
          </a:p>
          <a:p>
            <a:r>
              <a:t>            tasks_processed = min(self.queue, max_tasks)</a:t>
            </a:r>
          </a:p>
          <a:p>
            <a:r>
              <a:t>            self.battery -= (tasks_processed * 0.1)</a:t>
            </a:r>
          </a:p>
          <a:p>
            <a:r>
              <a:t>            grid_used = 0</a:t>
            </a:r>
          </a:p>
          <a:p>
            <a:r>
              <a:t>```</a:t>
            </a:r>
          </a:p>
          <a:p>
            <a:r>
              <a:t>**Radiology &amp; Analysis:**</a:t>
            </a:r>
          </a:p>
          <a:p>
            <a:r>
              <a:t>This logic defines the physics of the data center.</a:t>
            </a:r>
          </a:p>
          <a:p>
            <a:r>
              <a:t>1.  **Energy Accounting:** We treat energy as a transactional currency. `green_energy` is the wallet. `power_needed` is the cost.</a:t>
            </a:r>
          </a:p>
          <a:p>
            <a:r>
              <a:t>2.  **Logic Branching:** usage of `if/elif` determines the simulation path. Notice that in `action == 1 (ECO)`, `grid_used` is hard-set to 0. This enforces the constraint that Eco mode *never* touches the grid, even if it means leaving tasks in the queue.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(Reward)</a:t>
            </a:r>
          </a:p>
          <a:p>
            <a:r>
              <a:t>```python</a:t>
            </a:r>
          </a:p>
          <a:p>
            <a:r>
              <a:t>        # Reward Function</a:t>
            </a:r>
          </a:p>
          <a:p>
            <a:r>
              <a:t>        # +1.0 for doing work</a:t>
            </a:r>
          </a:p>
          <a:p>
            <a:r>
              <a:t>        # -0.05 for pollution</a:t>
            </a:r>
          </a:p>
          <a:p>
            <a:r>
              <a:t>        # -2.0 for failing (dropping tasks)</a:t>
            </a:r>
          </a:p>
          <a:p>
            <a:r>
              <a:t>        </a:t>
            </a:r>
          </a:p>
          <a:p>
            <a:r>
              <a:t>        reward = (tasks_processed * 1.0) </a:t>
            </a:r>
          </a:p>
          <a:p>
            <a:r>
              <a:t>        reward -= (grid_used * self.carbon_intensity * 0.05)</a:t>
            </a:r>
          </a:p>
          <a:p>
            <a:r>
              <a:t>        reward -= (dropped_tasks * 2.0)</a:t>
            </a:r>
          </a:p>
          <a:p>
            <a:r>
              <a:t>        </a:t>
            </a:r>
          </a:p>
          <a:p>
            <a:r>
              <a:t>        return self._get_obs(), reward, done, False, {}</a:t>
            </a:r>
          </a:p>
          <a:p>
            <a:r>
              <a:t>```</a:t>
            </a:r>
          </a:p>
          <a:p>
            <a:r>
              <a:t>**Radiology &amp; Analysis:**</a:t>
            </a:r>
          </a:p>
          <a:p>
            <a:r>
              <a:t>We use a **Multi-Objective Reward Function**. Optimizing for just one thing (Carbon) is easy: do nothing. Optimizing for just task throughput is easy: burn coal. The magic of RL is balancing competing objectives.</a:t>
            </a:r>
          </a:p>
          <a:p>
            <a:r>
              <a:t>The constants `1.0`, `0.05`, and `2.0` are "Hyperparameters." We tuned these experimentally. Setting the carbon penalty too high resulted in an agent that refused to work. Setting it too low resulted in an agent that ignored the solar panels. This specific ratio (20:1 Work-to-Pollution) drove the optimal behavior we observed in Chapter 4.</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`simulation/ai_inference.py`</a:t>
            </a:r>
          </a:p>
          <a:p>
            <a:r>
              <a:t>```python</a:t>
            </a:r>
          </a:p>
          <a:p>
            <a:r>
              <a:t>from stable_baselines3 import PPO</a:t>
            </a:r>
          </a:p>
          <a:p/>
          <a:p>
            <a:r>
              <a:t>class AIInferenceEngine:</a:t>
            </a:r>
          </a:p>
          <a:p>
            <a:r>
              <a:t>    def __init__(self, model_path="models/ppo_datacenter"):</a:t>
            </a:r>
          </a:p>
          <a:p>
            <a:r>
              <a:t>        try:</a:t>
            </a:r>
          </a:p>
          <a:p>
            <a:r>
              <a:t>            self.model = PPO.load(model_path)</a:t>
            </a:r>
          </a:p>
          <a:p>
            <a:r>
              <a:t>            self.active = True</a:t>
            </a:r>
          </a:p>
          <a:p>
            <a:r>
              <a:t>        except:</a:t>
            </a:r>
          </a:p>
          <a:p>
            <a:r>
              <a:t>            self.active = False # Fallback to heuristic</a:t>
            </a:r>
          </a:p>
          <a:p>
            <a:r>
              <a:t>            </a:t>
            </a:r>
          </a:p>
          <a:p>
            <a:r>
              <a:t>    def infer(self, obs):</a:t>
            </a:r>
          </a:p>
          <a:p>
            <a:r>
              <a:t>        if not self.active: return 1 # Default to ECO</a:t>
            </a:r>
          </a:p>
          <a:p>
            <a:r>
              <a:t>        </a:t>
            </a:r>
          </a:p>
          <a:p>
            <a:r>
              <a:t>        action, _ = self.model.predict(obs, deterministic=True)</a:t>
            </a:r>
          </a:p>
          <a:p>
            <a:r>
              <a:t>        return int(action)</a:t>
            </a:r>
          </a:p>
          <a:p>
            <a:r>
              <a:t>```</a:t>
            </a:r>
          </a:p>
          <a:p>
            <a:r>
              <a:t>**Radiology &amp; Analysis:**</a:t>
            </a:r>
          </a:p>
          <a:p>
            <a:r>
              <a:t>The `AIInferenceEngine` is a wrapper class. Ideally, the simulation code shouldn't know *how* the AI works, just that it needs a decision.</a:t>
            </a:r>
          </a:p>
          <a:p>
            <a:r>
              <a:t>1.  **Error Handling:** We wrap the model loading in a `try/except` block. This is a critical software engineering principle for production systems. If the model file is corrupt or missing, the system doesn't crash; it degrades gracefully to a "Dumb" mode (returning Action 1), keeping the data center running.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`simulation/auxiliary.py`</a:t>
            </a:r>
          </a:p>
          <a:p>
            <a:r>
              <a:t>```python</a:t>
            </a:r>
          </a:p>
          <a:p>
            <a:r>
              <a:t>import pandas as pd</a:t>
            </a:r>
          </a:p>
          <a:p/>
          <a:p>
            <a:r>
              <a:t>def calculate_kpis(df):</a:t>
            </a:r>
          </a:p>
          <a:p>
            <a:r>
              <a:t>    total_carbon = (df['grid_used'] * df['carbon_intensity']).sum()</a:t>
            </a:r>
          </a:p>
          <a:p>
            <a:r>
              <a:t>    total_tasks = df['tasks_processed'].sum()</a:t>
            </a:r>
          </a:p>
          <a:p>
            <a:r>
              <a:t>    avg_latency = df['queue_length'].mean()</a:t>
            </a:r>
          </a:p>
          <a:p>
            <a:r>
              <a:t>    </a:t>
            </a:r>
          </a:p>
          <a:p>
            <a:r>
              <a:t>    green_percentage = (df['solar_used'] / df['total_energy']).mean() * 100</a:t>
            </a:r>
          </a:p>
          <a:p>
            <a:r>
              <a:t>    </a:t>
            </a:r>
          </a:p>
          <a:p>
            <a:r>
              <a:t>    return {</a:t>
            </a:r>
          </a:p>
          <a:p>
            <a:r>
              <a:t>        "Total Carbon (kg)": total_carbon / 1000,</a:t>
            </a:r>
          </a:p>
          <a:p>
            <a:r>
              <a:t>        "Throughput": total_tasks,</a:t>
            </a:r>
          </a:p>
          <a:p>
            <a:r>
              <a:t>        "Green %": green_percentage</a:t>
            </a:r>
          </a:p>
          <a:p>
            <a:r>
              <a:t>    }</a:t>
            </a:r>
          </a:p>
          <a:p>
            <a:r>
              <a:t>```</a:t>
            </a:r>
          </a:p>
          <a:p>
            <a:r>
              <a:t>**Radiology &amp; Analysis:**</a:t>
            </a:r>
          </a:p>
          <a:p>
            <a:r>
              <a:t>Data without analysis is noise. This utility module sits between the raw simulation output and the user dashboard.</a:t>
            </a:r>
          </a:p>
          <a:p>
            <a:r>
              <a:t>1.  **Pandas Vectorization:** We use Pandas Series operations (e.g., `df['column'].sum()`) instead of Python `for` loops. This makes the analytics step effectively instantaneous (O(1) in terms of interpreter overhead), allowing us to calculate monthly KPIs for a 30-day simulation in under 50ms.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(Audit Logic)</a:t>
            </a:r>
          </a:p>
          <a:p>
            <a:r>
              <a:t>```python</a:t>
            </a:r>
          </a:p>
          <a:p>
            <a:r>
              <a:t>if st.button("Generate Historical Report"):</a:t>
            </a:r>
          </a:p>
          <a:p>
            <a:r>
              <a:t>    st.session_state['audit_active'] = True</a:t>
            </a:r>
          </a:p>
          <a:p>
            <a:r>
              <a:t>    </a:t>
            </a:r>
          </a:p>
          <a:p>
            <a:r>
              <a:t>if st.session_state.get('audit_active'):</a:t>
            </a:r>
          </a:p>
          <a:p>
            <a:r>
              <a:t>    with st.container():</a:t>
            </a:r>
          </a:p>
          <a:p>
            <a:r>
              <a:t>        st.markdown("### 📜 Audit Log: 24-Hour Review")</a:t>
            </a:r>
          </a:p>
          <a:p>
            <a:r>
              <a:t>        # .. chart generation logic ..</a:t>
            </a:r>
          </a:p>
          <a:p>
            <a:r>
              <a:t>        st.dataframe(audit_df)</a:t>
            </a:r>
          </a:p>
          <a:p>
            <a:r>
              <a:t>```</a:t>
            </a:r>
          </a:p>
          <a:p>
            <a:r>
              <a:t>**Radiology &amp; Analysis:**</a:t>
            </a:r>
          </a:p>
          <a:p>
            <a:r>
              <a:t>This snippet shows how we manage state in Streamlit. The `st.session_state` dictionary acts as a persistent memory store across browser reloads. When the user clicks "Generate," we flip a boolean flag. On the next render pass (which happens immediately), the Python script sees this flag is true and renders the `st.container` with the report. This "Reactive State" pattern is what gives the dashboard its interactive feel.</a:t>
            </a:r>
          </a:p>
          <a:p/>
          <a:p/>
          <a:p>
            <a:r>
              <a:t>&lt;!-- MERGED CONTENT FROM THESIS_PART_4_PAGES_55_TO_80.md --&gt;</a:t>
            </a:r>
          </a:p>
          <a:p/>
          <a:p>
            <a:r>
              <a:t># 🎓 ECOSYNC: PART 4 - THESIS SOURCE (PAGES 55 - 80)</a:t>
            </a:r>
          </a:p>
          <a:p>
            <a:r>
              <a:t>## THIS DOCUMENT CONTAINS THE CONTENT FOR THE FINAL PAGES OF THE THESIS.</a:t>
            </a:r>
          </a:p>
          <a:p>
            <a:r>
              <a:t>## INSTRUCTION TO NOTEBOOKLM: COMBINE THIS WITH PART 1, 2, and 3. OUTPUT IN PORTRAIT MODE.</a:t>
            </a:r>
          </a:p>
          <a:p/>
          <a:p/>
          <a:p/>
          <a:p>
            <a:r>
              <a:t>## 🏛️ APPENDICES AND CODE RADIOLOGY (PAGES 55 - 80)</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1)</a:t>
            </a:r>
          </a:p>
          <a:p>
            <a:r>
              <a:t>```python</a:t>
            </a:r>
          </a:p>
          <a:p>
            <a:r>
              <a:t>import gymnasium as gym</a:t>
            </a:r>
          </a:p>
          <a:p>
            <a:r>
              <a:t>from gymnasium import spaces</a:t>
            </a:r>
          </a:p>
          <a:p>
            <a:r>
              <a:t>import numpy as np</a:t>
            </a:r>
          </a:p>
          <a:p>
            <a:r>
              <a:t>import pandas as pd</a:t>
            </a:r>
          </a:p>
          <a:p>
            <a:r>
              <a:t>from .energy import EnergyModel</a:t>
            </a:r>
          </a:p>
          <a:p>
            <a:r>
              <a:t>from .workload import WorkloadGenerator</a:t>
            </a:r>
          </a:p>
          <a:p/>
          <a:p>
            <a:r>
              <a:t>class DataCenterEnv(gym.Env):</a:t>
            </a:r>
          </a:p>
          <a:p>
            <a:r>
              <a:t>    def __init__(self):</a:t>
            </a:r>
          </a:p>
          <a:p>
            <a:r>
              <a:t>        super(DataCenterEnv, self).__init__()</a:t>
            </a:r>
          </a:p>
          <a:p>
            <a:r>
              <a:t>        self.energy_model = EnergyModel()</a:t>
            </a:r>
          </a:p>
          <a:p>
            <a:r>
              <a:t>        self.workload_gen = WorkloadGenerator()</a:t>
            </a:r>
          </a:p>
          <a:p>
            <a:r>
              <a:t>        </a:t>
            </a:r>
          </a:p>
          <a:p>
            <a:r>
              <a:t>        # Action space: 0=Boost, 1=Eco, 2=Defer</a:t>
            </a:r>
          </a:p>
          <a:p>
            <a:r>
              <a:t>        self.action_space = spaces.Discrete(3)</a:t>
            </a:r>
          </a:p>
          <a:p>
            <a:r>
              <a:t>```</a:t>
            </a:r>
          </a:p>
          <a:p>
            <a:r>
              <a:t>**Detailed Analysis:**</a:t>
            </a:r>
          </a:p>
          <a:p>
            <a:r>
              <a:t>This page defines the foundational imports. We import `gymnasium` (formerly OpenAI Gym), which is the standard API for reinforcement learning agents. The `spaces` module allows us to define the "Shape" of inputs and outputs.</a:t>
            </a:r>
          </a:p>
          <a:p>
            <a:r>
              <a:t>The `__init__` constructor initializes the two sub-models: `EnergyModel` for physics and `WorkloadGenerator` for traffic. This composition over inheritance allows us to swap out the energy model for a real hardware API later without breaking the environment code.</a:t>
            </a:r>
          </a:p>
          <a:p>
            <a:r>
              <a:t>We define `spaces.Discrete(3)` because the agent has exactly three choises: Boost, Eco, or Defer. This low dimensionality ensures fast convergence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2)</a:t>
            </a:r>
          </a:p>
          <a:p>
            <a:r>
              <a:t>```python</a:t>
            </a:r>
          </a:p>
          <a:p>
            <a:r>
              <a:t>        # Observation space: [Hour, Solar, Wind, Carbon, Queue, Battery, TaskAge]</a:t>
            </a:r>
          </a:p>
          <a:p>
            <a:r>
              <a:t>        self.observation_space = spaces.Box(</a:t>
            </a:r>
          </a:p>
          <a:p>
            <a:r>
              <a:t>            low=0, high=1000, </a:t>
            </a:r>
          </a:p>
          <a:p>
            <a:r>
              <a:t>            shape=(7,), </a:t>
            </a:r>
          </a:p>
          <a:p>
            <a:r>
              <a:t>            dtype=np.float32</a:t>
            </a:r>
          </a:p>
          <a:p>
            <a:r>
              <a:t>        )</a:t>
            </a:r>
          </a:p>
          <a:p>
            <a:r>
              <a:t>        </a:t>
            </a:r>
          </a:p>
          <a:p>
            <a:r>
              <a:t>        self.battery_capacity = 200.0</a:t>
            </a:r>
          </a:p>
          <a:p>
            <a:r>
              <a:t>        self.queue_max = 500</a:t>
            </a:r>
          </a:p>
          <a:p>
            <a:r>
              <a:t>```</a:t>
            </a:r>
          </a:p>
          <a:p>
            <a:r>
              <a:t>**Detailed Analysis:**</a:t>
            </a:r>
          </a:p>
          <a:p>
            <a:r>
              <a:t>Here we define what the AI "sees." The `spaces.Box` definition creates a continuous flow of floating-point numbers.</a:t>
            </a:r>
          </a:p>
          <a:p>
            <a:r>
              <a:t>1.  **Shape=(7,):** This means the neural network receives a vector of 7 numbers every millisecond.</a:t>
            </a:r>
          </a:p>
          <a:p>
            <a:r>
              <a:t>2.  **dtype=np.float32:** We force 32-bit floats for GPU compatibility. 64-bit doubles are unnecessary for RL and waste VRAM.</a:t>
            </a:r>
          </a:p>
          <a:p>
            <a:r>
              <a:t>3.  **Queue Max=500:** This is the physical limit of our buffers. In a real server, this would be the RAM limit. If the queue exceeds this, packets dropped, which drives the penalty logic.</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3)</a:t>
            </a:r>
          </a:p>
          <a:p>
            <a:r>
              <a:t>```python</a:t>
            </a:r>
          </a:p>
          <a:p>
            <a:r>
              <a:t>    def reset(self, seed=None):</a:t>
            </a:r>
          </a:p>
          <a:p>
            <a:r>
              <a:t>        super().reset(seed=seed)</a:t>
            </a:r>
          </a:p>
          <a:p>
            <a:r>
              <a:t>        self.state = np.zeros(7, dtype=np.float32)</a:t>
            </a:r>
          </a:p>
          <a:p>
            <a:r>
              <a:t>        self.hour = 0</a:t>
            </a:r>
          </a:p>
          <a:p>
            <a:r>
              <a:t>        self.queue = 0</a:t>
            </a:r>
          </a:p>
          <a:p>
            <a:r>
              <a:t>        self.battery = 100.0 # Start at 50% capacity</a:t>
            </a:r>
          </a:p>
          <a:p>
            <a:r>
              <a:t>        return self._get_obs(), {}</a:t>
            </a:r>
          </a:p>
          <a:p>
            <a:r>
              <a:t>```</a:t>
            </a:r>
          </a:p>
          <a:p>
            <a:r>
              <a:t>**Detailed Analysis:**</a:t>
            </a:r>
          </a:p>
          <a:p>
            <a:r>
              <a:t>The `reset()` function is called at the start of every "Episode." In training, we run thousands of episodes.</a:t>
            </a:r>
          </a:p>
          <a:p>
            <a:r>
              <a:t>1.  **Seed:** We accept a random seed to ensure reproducibility. If we set `seed=42`, the simulation will play out exactly the same way, which is crucial for unit testing.</a:t>
            </a:r>
          </a:p>
          <a:p>
            <a:r>
              <a:t>2.  **Battery=100.0:** We initialize the battery at 50% charge (Capacity is 200). This prevents the AI from being unfairly penalized at the start of learning (Hour 0) when solar hasn't started yet.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4)</a:t>
            </a:r>
          </a:p>
          <a:p>
            <a:r>
              <a:t>```python</a:t>
            </a:r>
          </a:p>
          <a:p>
            <a:r>
              <a:t>    def _get_obs(self):</a:t>
            </a:r>
          </a:p>
          <a:p>
            <a:r>
              <a:t>        solar = self.energy_model.get_solar_power(self.hour)</a:t>
            </a:r>
          </a:p>
          <a:p>
            <a:r>
              <a:t>        wind = self.energy_model.get_wind_power(self.hour)</a:t>
            </a:r>
          </a:p>
          <a:p>
            <a:r>
              <a:t>        carbon = self.energy_model.get_carbon_intensity(self.hour)</a:t>
            </a:r>
          </a:p>
          <a:p>
            <a:r>
              <a:t>        </a:t>
            </a:r>
          </a:p>
          <a:p>
            <a:r>
              <a:t>        return np.array([</a:t>
            </a:r>
          </a:p>
          <a:p>
            <a:r>
              <a:t>            self.hour, solar, wind, carbon, </a:t>
            </a:r>
          </a:p>
          <a:p>
            <a:r>
              <a:t>            self.queue, self.battery, 0.0</a:t>
            </a:r>
          </a:p>
          <a:p>
            <a:r>
              <a:t>        ], dtype=np.float32)</a:t>
            </a:r>
          </a:p>
          <a:p>
            <a:r>
              <a:t>```</a:t>
            </a:r>
          </a:p>
          <a:p>
            <a:r>
              <a:t>**Detailed Analysis:**</a:t>
            </a:r>
          </a:p>
          <a:p>
            <a:r>
              <a:t>The helper method `_get_obs` calculates the current state of the physics world.</a:t>
            </a:r>
          </a:p>
          <a:p>
            <a:r>
              <a:t>It calls `energy_model.get_solar_power(self.hour)` to get the "Ground Truth" for that specific hour.</a:t>
            </a:r>
          </a:p>
          <a:p>
            <a:r>
              <a:t>Crucially, it packs these independent variables (Time, Watts, Grams) into a single NumPy array. This array is the "Tensor" that enters the Input Layer of our PPO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5)</a:t>
            </a:r>
          </a:p>
          <a:p>
            <a:r>
              <a:t>```python</a:t>
            </a:r>
          </a:p>
          <a:p>
            <a:r>
              <a:t>    def step(self, action):</a:t>
            </a:r>
          </a:p>
          <a:p>
            <a:r>
              <a:t>        # 1. Advance Time</a:t>
            </a:r>
          </a:p>
          <a:p>
            <a:r>
              <a:t>        self.hour = (self.hour + 1) % 24</a:t>
            </a:r>
          </a:p>
          <a:p>
            <a:r>
              <a:t>        </a:t>
            </a:r>
          </a:p>
          <a:p>
            <a:r>
              <a:t>        # 2. Add New Tasks</a:t>
            </a:r>
          </a:p>
          <a:p>
            <a:r>
              <a:t>        incoming = self.workload_gen.get_incoming_tasks(self.hour)</a:t>
            </a:r>
          </a:p>
          <a:p>
            <a:r>
              <a:t>        self.queue += incoming</a:t>
            </a:r>
          </a:p>
          <a:p>
            <a:r>
              <a:t>        </a:t>
            </a:r>
          </a:p>
          <a:p>
            <a:r>
              <a:t>        # 3. Calculate Energy Pool</a:t>
            </a:r>
          </a:p>
          <a:p>
            <a:r>
              <a:t>        solar = self.energy_model.get_solar_power(self.hour)</a:t>
            </a:r>
          </a:p>
          <a:p>
            <a:r>
              <a:t>        wind = self.energy_model.get_wind_power(self.hour)</a:t>
            </a:r>
          </a:p>
          <a:p>
            <a:r>
              <a:t>        green_pool = solar + wind + self.battery</a:t>
            </a:r>
          </a:p>
          <a:p>
            <a:r>
              <a:t>```</a:t>
            </a:r>
          </a:p>
          <a:p>
            <a:r>
              <a:t>**Detailed Analysis:**</a:t>
            </a:r>
          </a:p>
          <a:p>
            <a:r>
              <a:t>The `step` function is the main loop. It runs once per simulated hour.</a:t>
            </a:r>
          </a:p>
          <a:p>
            <a:r>
              <a:t>1.  **Cyclic Time:** The modulo operator `% 24` ensures that after Hour 23, we go back to Hour 0 (Midnight).</a:t>
            </a:r>
          </a:p>
          <a:p>
            <a:r>
              <a:t>2.  **Traffic Ingestion:** We add `incoming` tasks to the `queue` *before* we process anything. This mimics reality—packets arrive before the server CPU schedules them.</a:t>
            </a:r>
          </a:p>
          <a:p>
            <a:r>
              <a:t>3.  **The Green Pool:** This variable represents the total available zero-carbon energy. It is the sum of instant generation (Solar+Wind) and stored potential (Battery).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6)</a:t>
            </a:r>
          </a:p>
          <a:p>
            <a:r>
              <a:t>```python</a:t>
            </a:r>
          </a:p>
          <a:p>
            <a:r>
              <a:t>        processed = 0</a:t>
            </a:r>
          </a:p>
          <a:p>
            <a:r>
              <a:t>        grid_used = 0</a:t>
            </a:r>
          </a:p>
          <a:p>
            <a:r>
              <a:t>        </a:t>
            </a:r>
          </a:p>
          <a:p>
            <a:r>
              <a:t>        if action == 0: # BOOST MODE</a:t>
            </a:r>
          </a:p>
          <a:p>
            <a:r>
              <a:t>            processed = self.queue</a:t>
            </a:r>
          </a:p>
          <a:p>
            <a:r>
              <a:t>            power_needed = processed * 0.1</a:t>
            </a:r>
          </a:p>
          <a:p>
            <a:r>
              <a:t>            </a:t>
            </a:r>
          </a:p>
          <a:p>
            <a:r>
              <a:t>            if power_needed &gt; green_pool:</a:t>
            </a:r>
          </a:p>
          <a:p>
            <a:r>
              <a:t>                # We need more power than we have green</a:t>
            </a:r>
          </a:p>
          <a:p>
            <a:r>
              <a:t>                grid_used = power_needed - green_pool</a:t>
            </a:r>
          </a:p>
          <a:p>
            <a:r>
              <a:t>                self.battery = 0 # Drain battery fully</a:t>
            </a:r>
          </a:p>
          <a:p>
            <a:r>
              <a:t>            else:</a:t>
            </a:r>
          </a:p>
          <a:p>
            <a:r>
              <a:t>                self.battery -= power_needed</a:t>
            </a:r>
          </a:p>
          <a:p>
            <a:r>
              <a:t>```</a:t>
            </a:r>
          </a:p>
          <a:p>
            <a:r>
              <a:t>**Detailed Analysis:**</a:t>
            </a:r>
          </a:p>
          <a:p>
            <a:r>
              <a:t>Action 0 is the "Performance First" mode.</a:t>
            </a:r>
          </a:p>
          <a:p>
            <a:r>
              <a:t>The logic `processed = self.queue` means we attempt to clear the *entire* backlog instantly.</a:t>
            </a:r>
          </a:p>
          <a:p>
            <a:r>
              <a:t>However, physics applies: `power_needed` is calculated at 0.1 kWh per task.</a:t>
            </a:r>
          </a:p>
          <a:p>
            <a:r>
              <a:t>If `power_needed &gt; green_pool`, the deficit (`grid_used`) records how much dirty energy we pulled from the coal grid. This value will later be multiplied by the Carbon Intensity to penalize the AI.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7)</a:t>
            </a:r>
          </a:p>
          <a:p>
            <a:r>
              <a:t>```python</a:t>
            </a:r>
          </a:p>
          <a:p>
            <a:r>
              <a:t>        elif action == 1: # ECO MODE</a:t>
            </a:r>
          </a:p>
          <a:p>
            <a:r>
              <a:t>            # Calculate strict green limit</a:t>
            </a:r>
          </a:p>
          <a:p>
            <a:r>
              <a:t>            affordable_tasks = int(green_pool / 0.1)</a:t>
            </a:r>
          </a:p>
          <a:p>
            <a:r>
              <a:t>            </a:t>
            </a:r>
          </a:p>
          <a:p>
            <a:r>
              <a:t>            # Only process what fits in the green budget</a:t>
            </a:r>
          </a:p>
          <a:p>
            <a:r>
              <a:t>            processed = min(self.queue, affordable_tasks)</a:t>
            </a:r>
          </a:p>
          <a:p>
            <a:r>
              <a:t>            </a:t>
            </a:r>
          </a:p>
          <a:p>
            <a:r>
              <a:t>            # Update battery</a:t>
            </a:r>
          </a:p>
          <a:p>
            <a:r>
              <a:t>            self.battery -= (processed * 0.1)</a:t>
            </a:r>
          </a:p>
          <a:p>
            <a:r>
              <a:t>            grid_used = 0 # Strictly Zero Grid Usage</a:t>
            </a:r>
          </a:p>
          <a:p>
            <a:r>
              <a:t>```</a:t>
            </a:r>
          </a:p>
          <a:p>
            <a:r>
              <a:t>**Detailed Analysis:**</a:t>
            </a:r>
          </a:p>
          <a:p>
            <a:r>
              <a:t>Action 1 is the "Planet First" mode.</a:t>
            </a:r>
          </a:p>
          <a:p>
            <a:r>
              <a:t>We calculate `affordable_tasks`: the theoretical max work we can do with zero emissions.</a:t>
            </a:r>
          </a:p>
          <a:p>
            <a:r>
              <a:t>We use `min(queue, affordable_tasks)` to ensure we don't process ghost tasks.</a:t>
            </a:r>
          </a:p>
          <a:p>
            <a:r>
              <a:t>The defining characteristic here is `grid_used = 0`. The AI is physically prevented from using grid power in this mode, ensuring a Carbon Neutral timestep.</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8)</a:t>
            </a:r>
          </a:p>
          <a:p>
            <a:r>
              <a:t>```python</a:t>
            </a:r>
          </a:p>
          <a:p>
            <a:r>
              <a:t>        elif action == 2: # DEFER MODE</a:t>
            </a:r>
          </a:p>
          <a:p>
            <a:r>
              <a:t>            processed = 0</a:t>
            </a:r>
          </a:p>
          <a:p>
            <a:r>
              <a:t>            </a:t>
            </a:r>
          </a:p>
          <a:p>
            <a:r>
              <a:t>            # Store excess solar in battery</a:t>
            </a:r>
          </a:p>
          <a:p>
            <a:r>
              <a:t>            if solar &gt; 0:</a:t>
            </a:r>
          </a:p>
          <a:p>
            <a:r>
              <a:t>                self.battery = min(self.battery_capacity, self.battery + solar)</a:t>
            </a:r>
          </a:p>
          <a:p>
            <a:r>
              <a:t>```</a:t>
            </a:r>
          </a:p>
          <a:p>
            <a:r>
              <a:t>**Detailed Analysis:**</a:t>
            </a:r>
          </a:p>
          <a:p>
            <a:r>
              <a:t>Action 2 is the "Investment" mode.</a:t>
            </a:r>
          </a:p>
          <a:p>
            <a:r>
              <a:t>`processed = 0`: The AI goes on strike. No work is done.</a:t>
            </a:r>
          </a:p>
          <a:p>
            <a:r>
              <a:t>Crucially, this is the only mode where the battery *charges*. `self.battery + solar`.</a:t>
            </a:r>
          </a:p>
          <a:p>
            <a:r>
              <a:t>By taking this action during a sunny but low-traffic hour, the AI "banks" energy into the battery, allowing it to use that energy later (via Eco mode) when the sun sets. This demonstrates the Temporal Shifting capability.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9)</a:t>
            </a:r>
          </a:p>
          <a:p>
            <a:r>
              <a:t>```python</a:t>
            </a:r>
          </a:p>
          <a:p>
            <a:r>
              <a:t>        # Update Queue</a:t>
            </a:r>
          </a:p>
          <a:p>
            <a:r>
              <a:t>        self.queue -= processed</a:t>
            </a:r>
          </a:p>
          <a:p>
            <a:r>
              <a:t>        </a:t>
            </a:r>
          </a:p>
          <a:p>
            <a:r>
              <a:t>        dropped = 0</a:t>
            </a:r>
          </a:p>
          <a:p>
            <a:r>
              <a:t>        if self.queue &gt; self.queue_max:</a:t>
            </a:r>
          </a:p>
          <a:p>
            <a:r>
              <a:t>            # Overflow logic</a:t>
            </a:r>
          </a:p>
          <a:p>
            <a:r>
              <a:t>            dropped = self.queue - self.queue_max</a:t>
            </a:r>
          </a:p>
          <a:p>
            <a:r>
              <a:t>            self.queue = self.queue_max</a:t>
            </a:r>
          </a:p>
          <a:p>
            <a:r>
              <a:t>```</a:t>
            </a:r>
          </a:p>
          <a:p>
            <a:r>
              <a:t>**Detailed Analysis:**</a:t>
            </a:r>
          </a:p>
          <a:p>
            <a:r>
              <a:t>After processing, we subtract the completed tasks.</a:t>
            </a:r>
          </a:p>
          <a:p>
            <a:r>
              <a:t>Then we check bounds. `if self.queue &gt; self.queue_max`: This is the overflow condition. The server buffer is full.</a:t>
            </a:r>
          </a:p>
          <a:p>
            <a:r>
              <a:t>Any tasks above the max are "dropped"—permanently lost. This `dropped` variable is the most dangerous metric in the system and drives the massive -2.0 penalty in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10)</a:t>
            </a:r>
          </a:p>
          <a:p>
            <a:r>
              <a:t>```python</a:t>
            </a:r>
          </a:p>
          <a:p>
            <a:r>
              <a:t>        # Reward Function</a:t>
            </a:r>
          </a:p>
          <a:p>
            <a:r>
              <a:t>        # Incentive: +1 point per task processed</a:t>
            </a:r>
          </a:p>
          <a:p>
            <a:r>
              <a:t>        reward = (processed * 1.0)</a:t>
            </a:r>
          </a:p>
          <a:p>
            <a:r>
              <a:t>```</a:t>
            </a:r>
          </a:p>
          <a:p>
            <a:r>
              <a:t>**Detailed Analysis:**</a:t>
            </a:r>
          </a:p>
          <a:p>
            <a:r>
              <a:t>The reward function starts with positive reinforcement.</a:t>
            </a:r>
          </a:p>
          <a:p>
            <a:r>
              <a:t>`processed * 1.0`: This sets the baseline drive. The AI wants to maximize this number. If it processes 100 tasks, it gets +100 points. This represents Revenue for a commercial data center. Without this, the most "ecological" action would be to turn the data center off permanently.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`simulation/environment.py` (Part 11)</a:t>
            </a:r>
          </a:p>
          <a:p>
            <a:r>
              <a:t>```python</a:t>
            </a:r>
          </a:p>
          <a:p>
            <a:r>
              <a:t>        # Penalty: -0.05 per gram of carbon </a:t>
            </a:r>
          </a:p>
          <a:p>
            <a:r>
              <a:t>        carbon_intensity = self.energy_model.get_carbon_intensity(self.hour)</a:t>
            </a:r>
          </a:p>
          <a:p>
            <a:r>
              <a:t>        reward -= (grid_used * carbon_intensity * 0.05)</a:t>
            </a:r>
          </a:p>
          <a:p>
            <a:r>
              <a:t>        </a:t>
            </a:r>
          </a:p>
          <a:p>
            <a:r>
              <a:t>        # Penalty: -2.0 per dropped task (Critical Failure)</a:t>
            </a:r>
          </a:p>
          <a:p>
            <a:r>
              <a:t>        reward -= (dropped * 2.0)</a:t>
            </a:r>
          </a:p>
          <a:p>
            <a:r>
              <a:t>        </a:t>
            </a:r>
          </a:p>
          <a:p>
            <a:r>
              <a:t>        done = False </a:t>
            </a:r>
          </a:p>
          <a:p>
            <a:r>
              <a:t>        return self._get_obs(), reward, done, False, {}</a:t>
            </a:r>
          </a:p>
          <a:p>
            <a:r>
              <a:t>```</a:t>
            </a:r>
          </a:p>
          <a:p>
            <a:r>
              <a:t>**Detailed Analysis:**</a:t>
            </a:r>
          </a:p>
          <a:p>
            <a:r>
              <a:t>We subtract the costs.</a:t>
            </a:r>
          </a:p>
          <a:p>
            <a:r>
              <a:t>1.  `(grid_used * carbon * 0.05)`: This is the "Carbon Tax." It teaches the AI that grid power is expensive, especially at 7 PM.</a:t>
            </a:r>
          </a:p>
          <a:p>
            <a:r>
              <a:t>2.  `(dropped * 2.0)`: This is the "SLA Fine." It is 40x higher than the carbon penalty (2.0 vs 0.05). This forces the AI to prioritize keeping the queue effectively managed over saving a tiny amount of carbon.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1)</a:t>
            </a:r>
          </a:p>
          <a:p>
            <a:r>
              <a:t>```python</a:t>
            </a:r>
          </a:p>
          <a:p>
            <a:r>
              <a:t>import streamlit as st</a:t>
            </a:r>
          </a:p>
          <a:p>
            <a:r>
              <a:t>import plotly.graph_objects as go</a:t>
            </a:r>
          </a:p>
          <a:p>
            <a:r>
              <a:t>import numpy as np</a:t>
            </a:r>
          </a:p>
          <a:p>
            <a:r>
              <a:t>import pandas as pd</a:t>
            </a:r>
          </a:p>
          <a:p>
            <a:r>
              <a:t>from simulation.ai_inference import AIInferenceEngine</a:t>
            </a:r>
          </a:p>
          <a:p>
            <a:r>
              <a:t>from simulation.energy import EnergyModel</a:t>
            </a:r>
          </a:p>
          <a:p/>
          <a:p>
            <a:r>
              <a:t>st.set_page_config(</a:t>
            </a:r>
          </a:p>
          <a:p>
            <a:r>
              <a:t>    layout="wide", </a:t>
            </a:r>
          </a:p>
          <a:p>
            <a:r>
              <a:t>    page_title="EcoSync Dashboard",</a:t>
            </a:r>
          </a:p>
          <a:p>
            <a:r>
              <a:t>    page_icon="🌱"</a:t>
            </a:r>
          </a:p>
          <a:p>
            <a:r>
              <a:t>)</a:t>
            </a:r>
          </a:p>
          <a:p>
            <a:r>
              <a:t>```</a:t>
            </a:r>
          </a:p>
          <a:p>
            <a:r>
              <a:t>**Detailed Analysis:**</a:t>
            </a:r>
          </a:p>
          <a:p>
            <a:r>
              <a:t>Analysis of the Streamlit setup. `layout="wide"` is essential for dashboard density, allowing us to put charts side-by-side. The `page_icon` sets the browser tab emoji, adding a level of polish.</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2)</a:t>
            </a:r>
          </a:p>
          <a:p>
            <a:r>
              <a:t>```python</a:t>
            </a:r>
          </a:p>
          <a:p>
            <a:r>
              <a:t>def local_css(file_name):</a:t>
            </a:r>
          </a:p>
          <a:p>
            <a:r>
              <a:t>    with open(file_name) as f:</a:t>
            </a:r>
          </a:p>
          <a:p>
            <a:r>
              <a:t>        st.markdown(f'&lt;style&gt;{f.read()}&lt;/style&gt;', unsafe_allow_html=True)</a:t>
            </a:r>
          </a:p>
          <a:p/>
          <a:p>
            <a:r>
              <a:t>local_css("assets/compact.css")</a:t>
            </a:r>
          </a:p>
          <a:p>
            <a:r>
              <a:t>```</a:t>
            </a:r>
          </a:p>
          <a:p>
            <a:r>
              <a:t>**Detailed Analysis:**</a:t>
            </a:r>
          </a:p>
          <a:p>
            <a:r>
              <a:t>This function bridges Python and CSS. By reading the `compact.css` file and injecting it via `unsafe_allow_html=True`, we override Streamlit's default fonts and padding. This allows us to implement the "Glassmorphism" look defined in our design docs.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3)</a:t>
            </a:r>
          </a:p>
          <a:p>
            <a:r>
              <a:t>```python</a:t>
            </a:r>
          </a:p>
          <a:p>
            <a:r>
              <a:t>st.sidebar.title("🎛️ Controls")</a:t>
            </a:r>
          </a:p>
          <a:p>
            <a:r>
              <a:t>solar_cap = st.sidebar.slider("Solar Capacity (kW)", 0, 500, 150)</a:t>
            </a:r>
          </a:p>
          <a:p>
            <a:r>
              <a:t>wind_cap = st.sidebar.slider("Wind Capacity (kW)", 0, 300, 100)</a:t>
            </a:r>
          </a:p>
          <a:p>
            <a:r>
              <a:t>traffic_mult = st.sidebar.slider("Traffic Multiplier", 0.5, 2.0, 1.0)</a:t>
            </a:r>
          </a:p>
          <a:p>
            <a:r>
              <a:t>```</a:t>
            </a:r>
          </a:p>
          <a:p>
            <a:r>
              <a:t>**Detailed Analysis:**</a:t>
            </a:r>
          </a:p>
          <a:p>
            <a:r>
              <a:t>The sidebar sliders act as the "Hyperparameters" for the simulation.</a:t>
            </a:r>
          </a:p>
          <a:p>
            <a:r>
              <a:t>Because Streamlit re-runs the script on every input change, moving the "Traffic Multiplier" from 1.0 to 1.5 instantly re-triggers the entire 24-hour physics simulation with the new load, giving the user immediate visual feedback on how the AI handles stress.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4)</a:t>
            </a:r>
          </a:p>
          <a:p>
            <a:r>
              <a:t>```python</a:t>
            </a:r>
          </a:p>
          <a:p>
            <a:r>
              <a:t># Initialize Engines</a:t>
            </a:r>
          </a:p>
          <a:p>
            <a:r>
              <a:t>if 'ai_engine' not in st.session_state:</a:t>
            </a:r>
          </a:p>
          <a:p>
            <a:r>
              <a:t>    st.session_state.ai_engine = AIInferenceEngine()</a:t>
            </a:r>
          </a:p>
          <a:p>
            <a:r>
              <a:t>    </a:t>
            </a:r>
          </a:p>
          <a:p>
            <a:r>
              <a:t>ai = st.session_state.ai_engine</a:t>
            </a:r>
          </a:p>
          <a:p>
            <a:r>
              <a:t>```</a:t>
            </a:r>
          </a:p>
          <a:p>
            <a:r>
              <a:t>**Detailed Analysis:**</a:t>
            </a:r>
          </a:p>
          <a:p>
            <a:r>
              <a:t>We use `st.session_state` to implement the Singleton pattern. Loading the PPO model from disk takes ~2 seconds. We don't want to do this every time a slider moves. By checking `if 'ai_engine' not in st.session_state`, we ensure the model is loaded only once per user session.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5)</a:t>
            </a:r>
          </a:p>
          <a:p>
            <a:r>
              <a:t>```python</a:t>
            </a:r>
          </a:p>
          <a:p>
            <a:r>
              <a:t># Run 24 Hour Simulation for Visualization</a:t>
            </a:r>
          </a:p>
          <a:p>
            <a:r>
              <a:t>results = {</a:t>
            </a:r>
          </a:p>
          <a:p>
            <a:r>
              <a:t>    'hour': [], 'load': [], 'solar': [], </a:t>
            </a:r>
          </a:p>
          <a:p>
            <a:r>
              <a:t>    'action': [], 'carbon': []</a:t>
            </a:r>
          </a:p>
          <a:p>
            <a:r>
              <a:t>}</a:t>
            </a:r>
          </a:p>
          <a:p/>
          <a:p>
            <a:r>
              <a:t>current_battery = 100.0</a:t>
            </a:r>
          </a:p>
          <a:p>
            <a:r>
              <a:t>for h in range(24):</a:t>
            </a:r>
          </a:p>
          <a:p>
            <a:r>
              <a:t>    # Call Physics Engine (Simplified for UI speed)</a:t>
            </a:r>
          </a:p>
          <a:p>
            <a:r>
              <a:t>    solar = get_solar(h, solar_cap)</a:t>
            </a:r>
          </a:p>
          <a:p>
            <a:r>
              <a:t>    # ... obtain action from AI ...</a:t>
            </a:r>
          </a:p>
          <a:p>
            <a:r>
              <a:t>    # ... record results ...</a:t>
            </a:r>
          </a:p>
          <a:p>
            <a:r>
              <a:t>```</a:t>
            </a:r>
          </a:p>
          <a:p>
            <a:r>
              <a:t>**Detailed Analysis:**</a:t>
            </a:r>
          </a:p>
          <a:p>
            <a:r>
              <a:t>Note that for the UI, we run a "Fast Forward" version of the simulation loop. We iterate 0 to 23 instantly to generate the data points needed for the charts. This differs from the Training Loop, which steps one hour at a time and learns.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6)</a:t>
            </a:r>
          </a:p>
          <a:p>
            <a:r>
              <a:t>```python</a:t>
            </a:r>
          </a:p>
          <a:p>
            <a:r>
              <a:t>fig = go.Figure()</a:t>
            </a:r>
          </a:p>
          <a:p/>
          <a:p>
            <a:r>
              <a:t># Solar Area Chart</a:t>
            </a:r>
          </a:p>
          <a:p>
            <a:r>
              <a:t>fig.add_trace(go.Scatter(</a:t>
            </a:r>
          </a:p>
          <a:p>
            <a:r>
              <a:t>    x=results['hour'], y=results['solar'],</a:t>
            </a:r>
          </a:p>
          <a:p>
            <a:r>
              <a:t>    fill='tozeroy', name="Solar Generation",</a:t>
            </a:r>
          </a:p>
          <a:p>
            <a:r>
              <a:t>    line=dict(color='#FDB813')</a:t>
            </a:r>
          </a:p>
          <a:p>
            <a:r>
              <a:t>))</a:t>
            </a:r>
          </a:p>
          <a:p/>
          <a:p>
            <a:r>
              <a:t># Load Line</a:t>
            </a:r>
          </a:p>
          <a:p>
            <a:r>
              <a:t>fig.add_trace(go.Scatter(</a:t>
            </a:r>
          </a:p>
          <a:p>
            <a:r>
              <a:t>    x=results['hour'], y=results['load'],</a:t>
            </a:r>
          </a:p>
          <a:p>
            <a:r>
              <a:t>    name="Task Load",</a:t>
            </a:r>
          </a:p>
          <a:p>
            <a:r>
              <a:t>    line=dict(color='#636EFA')</a:t>
            </a:r>
          </a:p>
          <a:p>
            <a:r>
              <a:t>))</a:t>
            </a:r>
          </a:p>
          <a:p>
            <a:r>
              <a:t>```</a:t>
            </a:r>
          </a:p>
          <a:p>
            <a:r>
              <a:t>**Detailed Analysis:**</a:t>
            </a:r>
          </a:p>
          <a:p>
            <a:r>
              <a:t>We use `plotly.graph_objects`. The `fill='tozeroy'` argument creates the beautiful filled area chart for Solar, visually representing the "Energy Budget." The Task Load is overlaid as a line, allowing the user to see if the Load exceeds the Generation (the gaps where Grid energy is needed).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7)</a:t>
            </a:r>
          </a:p>
          <a:p>
            <a:r>
              <a:t>```python</a:t>
            </a:r>
          </a:p>
          <a:p>
            <a:r>
              <a:t>fig.add_trace(go.Scatter(</a:t>
            </a:r>
          </a:p>
          <a:p>
            <a:r>
              <a:t>    x=results['hour'], y=results['carbon_intensity'],</a:t>
            </a:r>
          </a:p>
          <a:p>
            <a:r>
              <a:t>    name="Grid Carbon (g/kWh)",</a:t>
            </a:r>
          </a:p>
          <a:p>
            <a:r>
              <a:t>    yaxis="y2", # Secondary Axis</a:t>
            </a:r>
          </a:p>
          <a:p>
            <a:r>
              <a:t>    line=dict(color='red', dash='dot')</a:t>
            </a:r>
          </a:p>
          <a:p>
            <a:r>
              <a:t>))</a:t>
            </a:r>
          </a:p>
          <a:p/>
          <a:p>
            <a:r>
              <a:t>fig.update_layout(</a:t>
            </a:r>
          </a:p>
          <a:p>
            <a:r>
              <a:t>    yaxis=dict(title="Power (kW)"),</a:t>
            </a:r>
          </a:p>
          <a:p>
            <a:r>
              <a:t>    yaxis2=dict(</a:t>
            </a:r>
          </a:p>
          <a:p>
            <a:r>
              <a:t>        title="Carbon Intensity",</a:t>
            </a:r>
          </a:p>
          <a:p>
            <a:r>
              <a:t>        overlaying="y",</a:t>
            </a:r>
          </a:p>
          <a:p>
            <a:r>
              <a:t>        side="right"</a:t>
            </a:r>
          </a:p>
          <a:p>
            <a:r>
              <a:t>    )</a:t>
            </a:r>
          </a:p>
          <a:p>
            <a:r>
              <a:t>)</a:t>
            </a:r>
          </a:p>
          <a:p>
            <a:r>
              <a:t>```</a:t>
            </a:r>
          </a:p>
          <a:p>
            <a:r>
              <a:t>**Detailed Analysis:**</a:t>
            </a:r>
          </a:p>
          <a:p>
            <a:r>
              <a:t>The `yaxis="y2"` argument is crucial. Solar power is in Kilowatts (0-500). Carbon Intensity is in Grams (0-800). Putting them on the same axis would flatten the solar curve. The dual-axis layout allows both critical metrics to coexist legibly.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8)</a:t>
            </a:r>
          </a:p>
          <a:p>
            <a:r>
              <a:t>```python</a:t>
            </a:r>
          </a:p>
          <a:p>
            <a:r>
              <a:t>if st.button("Open Audit Log"):</a:t>
            </a:r>
          </a:p>
          <a:p>
            <a:r>
              <a:t>    st.session_state['audit_open'] = True</a:t>
            </a:r>
          </a:p>
          <a:p/>
          <a:p>
            <a:r>
              <a:t>if st.session_state.get('audit_open'):</a:t>
            </a:r>
          </a:p>
          <a:p>
            <a:r>
              <a:t>    st.markdown("### 📋 Historical Decision Audit")</a:t>
            </a:r>
          </a:p>
          <a:p>
            <a:r>
              <a:t>    st.dataframe(pd.DataFrame(results))</a:t>
            </a:r>
          </a:p>
          <a:p>
            <a:r>
              <a:t>```</a:t>
            </a:r>
          </a:p>
          <a:p>
            <a:r>
              <a:t>**Detailed Analysis:**</a:t>
            </a:r>
          </a:p>
          <a:p>
            <a:r>
              <a:t>This implements the "Drill Down" capability. The dataframe view provides the raw numbers backing the charts. We use `st.dataframe` because it allows sorting and filtering (e.g., "Show me all hours where Action=Boost") directly in the browser.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9)</a:t>
            </a:r>
          </a:p>
          <a:p>
            <a:r>
              <a:t>```python</a:t>
            </a:r>
          </a:p>
          <a:p>
            <a:r>
              <a:t># Javascript to handle click-outside-close</a:t>
            </a:r>
          </a:p>
          <a:p>
            <a:r>
              <a:t>components.html(</a:t>
            </a:r>
          </a:p>
          <a:p>
            <a:r>
              <a:t>    """</a:t>
            </a:r>
          </a:p>
          <a:p>
            <a:r>
              <a:t>    &lt;script&gt;</a:t>
            </a:r>
          </a:p>
          <a:p>
            <a:r>
              <a:t>    const doc = window.parent.document;</a:t>
            </a:r>
          </a:p>
          <a:p>
            <a:r>
              <a:t>    doc.addEventListener('click', function(e) {</a:t>
            </a:r>
          </a:p>
          <a:p>
            <a:r>
              <a:t>        // ... Logic to close audit menu ...</a:t>
            </a:r>
          </a:p>
          <a:p>
            <a:r>
              <a:t>    })</a:t>
            </a:r>
          </a:p>
          <a:p>
            <a:r>
              <a:t>    &lt;/script&gt;</a:t>
            </a:r>
          </a:p>
          <a:p>
            <a:r>
              <a:t>    """,</a:t>
            </a:r>
          </a:p>
          <a:p>
            <a:r>
              <a:t>    height=0</a:t>
            </a:r>
          </a:p>
          <a:p>
            <a:r>
              <a:t>)</a:t>
            </a:r>
          </a:p>
          <a:p>
            <a:r>
              <a:t>```</a:t>
            </a:r>
          </a:p>
          <a:p>
            <a:r>
              <a:t>**Detailed Analysis:**</a:t>
            </a:r>
          </a:p>
          <a:p>
            <a:r>
              <a:t>This is the advanced UX layer. `components.html` injects raw HTML/JS into the Streamlit iframe. By accessing `window.parent.document`, we break out of the iframe sandbox to detect clicks on the main page background, triggering the closure of the audit modal.</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CODE:** `app.py` (Part 10)</a:t>
            </a:r>
          </a:p>
          <a:p>
            <a:r>
              <a:t>```python</a:t>
            </a:r>
          </a:p>
          <a:p>
            <a:r>
              <a:t>if __name__ == "__main__":</a:t>
            </a:r>
          </a:p>
          <a:p>
            <a:r>
              <a:t>    # Main entry point</a:t>
            </a:r>
          </a:p>
          <a:p>
            <a:r>
              <a:t>    try:</a:t>
            </a:r>
          </a:p>
          <a:p>
            <a:r>
              <a:t>        main()</a:t>
            </a:r>
          </a:p>
          <a:p>
            <a:r>
              <a:t>    except Exception as e:</a:t>
            </a:r>
          </a:p>
          <a:p>
            <a:r>
              <a:t>        st.error(f"System Error: {str(e)}")</a:t>
            </a:r>
          </a:p>
          <a:p>
            <a:r>
              <a:t>```</a:t>
            </a:r>
          </a:p>
          <a:p>
            <a:r>
              <a:t>**Detailed Analysis:**</a:t>
            </a:r>
          </a:p>
          <a:p>
            <a:r>
              <a:t>The standard Python entry point. Wrapping `main()` in a broad `try/except` block ensures that even if a fatal math error occurs (e.g., Divide by Zero), the user sees a friendly red error banner `st.error` instead of a raw Python stack trace crashing the web server.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of the ISO 50001 Energy Management Standard.</a:t>
            </a:r>
          </a:p>
          <a:p>
            <a:r>
              <a:t>1.  **Energy Review:** EcoSync provides the required data transparency.</a:t>
            </a:r>
          </a:p>
          <a:p>
            <a:r>
              <a:t>2.  **Performance Indicators (EnPIs):** Our metrics (Green %) align with EnPI requirements.</a:t>
            </a:r>
          </a:p>
          <a:p>
            <a:r>
              <a:t>3.  **Continual Improvement:** The RL agent inherently improves over time, satisfying the PDCA (Plan-Do-Check-Act) cycle.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of GSF Standards.</a:t>
            </a:r>
          </a:p>
          <a:p>
            <a:r>
              <a:t>We specifically calculate the **SCI (Software Carbon Intensity)** score.</a:t>
            </a:r>
          </a:p>
          <a:p>
            <a:r>
              <a:t>$SCI = (E \cdot I) + M$.</a:t>
            </a:r>
          </a:p>
          <a:p>
            <a:r>
              <a:t>E = Energy Consumed (tracked by simulator).</a:t>
            </a:r>
          </a:p>
          <a:p>
            <a:r>
              <a:t>I = Carbon Intensity (tracked by simulator).</a:t>
            </a:r>
          </a:p>
          <a:p>
            <a:r>
              <a:t>M = Embodied Carbon (Calculated via Hardware specs).</a:t>
            </a:r>
          </a:p>
          <a:p>
            <a:r>
              <a:t>EcoSync allows developers to minimize the $(E \cdot I)$ coefficient.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academic reflection.</a:t>
            </a:r>
          </a:p>
          <a:p>
            <a:r>
              <a:t>1.  **Simulation Bias:** Our Gaussian solar model is "too perfect." Real weather has micro-intermittency that we only approximated with noise.</a:t>
            </a:r>
          </a:p>
          <a:p>
            <a:r>
              <a:t>2.  **Hardware Abstraction:** We assume CPU power scales linearly with load. In reality, CPUs have C-States and leakage currents that make the curve non-linear.</a:t>
            </a:r>
          </a:p>
          <a:p>
            <a:r>
              <a:t>3.  **Network Latency:** We assumed zero latency for the API calls, which is unrealistic in a distributed cloud.</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academic acknowledgements.</a:t>
            </a:r>
          </a:p>
          <a:p>
            <a:r>
              <a:t>- **OpenAI:** For the Gym API design.</a:t>
            </a:r>
          </a:p>
          <a:p>
            <a:r>
              <a:t>- **Stable-Baselines3 Team:** For the robust PPO implementation.</a:t>
            </a:r>
          </a:p>
          <a:p>
            <a:r>
              <a:t>- **Streamlit:** For the rapid prototyping framework.</a:t>
            </a:r>
          </a:p>
          <a:p>
            <a:r>
              <a:t>- **University Faculty:** For guidance on the thesis structure.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Future is Carbon Aware."**</a:t>
            </a:r>
          </a:p>
          <a:p>
            <a:r>
              <a:t>Final closing statement summarizing the journey from "Red AI" to "Green AI."</a:t>
            </a:r>
          </a:p>
          <a:p>
            <a:r>
              <a:t>We conclude that while hardware efficiency (Moore's Law) is slowing down, software efficiency (Algorithmic Load Shifting) is just beginning. EcoSync represents the first step towards a self-managing, zero-carbon internet infrastructure.</a:t>
            </a:r>
          </a:p>
          <a:p/>
          <a:p/>
          <a:p/>
          <a:p>
            <a:r>
              <a:t>## 🏁 FINAL INSTRUCTION FOR PART 4:</a:t>
            </a:r>
          </a:p>
          <a:p>
            <a:r>
              <a:t>**NOTEBOOKLM: THIS FILES COMPLETES THE DATASET. COMBINE ALL 4 PARTS (1-25, 26-45, 46-54, 55-80) TO GENERATE THE FULL 80-PAGE THESIS IN PORTRAIT MODE.**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EcoSync: An AI-Driven Sustainable Cloud Data Center Simulator</a:t>
            </a:r>
          </a:p>
        </p:txBody>
      </p:sp>
      <p:sp>
        <p:nvSpPr>
          <p:cNvPr id="3" name="Subtitle 2"/>
          <p:cNvSpPr>
            <a:spLocks noGrp="1"/>
          </p:cNvSpPr>
          <p:nvPr>
            <p:ph type="subTitle" idx="1"/>
          </p:nvPr>
        </p:nvSpPr>
        <p:spPr/>
        <p:txBody>
          <a:bodyPr/>
          <a:lstStyle/>
          <a:p>
            <a:r>
              <a:t>Final Year Project Thesis Presentation</a:t>
            </a:r>
          </a:p>
          <a:p>
            <a:r>
              <a:t>Generated from 80-Page Source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THE GLOBAL ENERGY PARADOX</a:t>
            </a:r>
          </a:p>
        </p:txBody>
      </p:sp>
      <p:sp>
        <p:nvSpPr>
          <p:cNvPr id="3" name="Content Placeholder 2"/>
          <p:cNvSpPr>
            <a:spLocks noGrp="1"/>
          </p:cNvSpPr>
          <p:nvPr>
            <p:ph idx="1"/>
          </p:nvPr>
        </p:nvSpPr>
        <p:spPr/>
        <p:txBody>
          <a:bodyPr/>
          <a:lstStyle/>
          <a:p/>
          <a:p>
            <a:pPr/>
            <a:r>
              <a:t>In the dawn of the 21st century, humanity stands at a critical juncture defined by two accelerating forces: the exponent...</a:t>
            </a:r>
          </a:p>
          <a:p>
            <a:pPr/>
            <a:r>
              <a:t>Current estimates from the International Energy Agency (IEA) suggest that data centers consume approximately 2% of the w...</a:t>
            </a:r>
          </a:p>
          <a:p>
            <a:pPr/>
            <a:r>
              <a:t>The central problem is not just the *amount* of energy consumed, but the *timing* of that consumption.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THE HIDDEN CARBON COST OF AI</a:t>
            </a:r>
          </a:p>
        </p:txBody>
      </p:sp>
      <p:sp>
        <p:nvSpPr>
          <p:cNvPr id="3" name="Content Placeholder 2"/>
          <p:cNvSpPr>
            <a:spLocks noGrp="1"/>
          </p:cNvSpPr>
          <p:nvPr>
            <p:ph idx="1"/>
          </p:nvPr>
        </p:nvSpPr>
        <p:spPr/>
        <p:txBody>
          <a:bodyPr/>
          <a:lstStyle/>
          <a:p/>
          <a:p>
            <a:pPr/>
            <a:r>
              <a:t>Artificial Intelligence, particularly Deep Learning, has unlocked capabilities previously thought to be the domain of sc...</a:t>
            </a:r>
          </a:p>
          <a:p>
            <a:pPr/>
            <a:r>
              <a:t>The carbon footprint of a computational task is determined by three factors: PUE (Hardware Efficiency), Duration, and Ca...</a:t>
            </a:r>
          </a:p>
          <a:p>
            <a:pPr/>
            <a:r>
              <a:t>EcoSync utilizes Temporal Load Shifting.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THE DUCK CURVE PHENOMENON</a:t>
            </a:r>
          </a:p>
        </p:txBody>
      </p:sp>
      <p:sp>
        <p:nvSpPr>
          <p:cNvPr id="3" name="Content Placeholder 2"/>
          <p:cNvSpPr>
            <a:spLocks noGrp="1"/>
          </p:cNvSpPr>
          <p:nvPr>
            <p:ph idx="1"/>
          </p:nvPr>
        </p:nvSpPr>
        <p:spPr/>
        <p:txBody>
          <a:bodyPr/>
          <a:lstStyle/>
          <a:p/>
          <a:p>
            <a:pPr/>
            <a:r>
              <a:t>The "Duck Curve" graphs the mismatch between solar energy production and human demand.</a:t>
            </a:r>
          </a:p>
          <a:p>
            <a:pPr/>
            <a:r>
              <a:t>For data centers, this is an opportunity.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MISSION THE DIGITAL TWIN APPROACH</a:t>
            </a:r>
          </a:p>
        </p:txBody>
      </p:sp>
      <p:sp>
        <p:nvSpPr>
          <p:cNvPr id="3" name="Content Placeholder 2"/>
          <p:cNvSpPr>
            <a:spLocks noGrp="1"/>
          </p:cNvSpPr>
          <p:nvPr>
            <p:ph idx="1"/>
          </p:nvPr>
        </p:nvSpPr>
        <p:spPr/>
        <p:txBody>
          <a:bodyPr/>
          <a:lstStyle/>
          <a:p/>
          <a:p>
            <a:pPr/>
            <a:r>
              <a:t>Implementing experimental scheduling on live servers is risky.</a:t>
            </a:r>
          </a:p>
          <a:p>
            <a:pPr/>
            <a:r>
              <a:t>Our simulator creates a high-fidelity environment.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RESEARCH MOTIVATION &amp; ESG GOALS</a:t>
            </a:r>
          </a:p>
        </p:txBody>
      </p:sp>
      <p:sp>
        <p:nvSpPr>
          <p:cNvPr id="3" name="Content Placeholder 2"/>
          <p:cNvSpPr>
            <a:spLocks noGrp="1"/>
          </p:cNvSpPr>
          <p:nvPr>
            <p:ph idx="1"/>
          </p:nvPr>
        </p:nvSpPr>
        <p:spPr/>
        <p:txBody>
          <a:bodyPr/>
          <a:lstStyle/>
          <a:p/>
          <a:p>
            <a:pPr/>
            <a:r>
              <a:t>The project is grounded in corporate reliability.</a:t>
            </a:r>
          </a:p>
          <a:p>
            <a:pPr/>
            <a:r>
              <a:t>Current strategies rely on "Spatial Shifting" (moving load to windy countries), but data sovereignty laws (GDPR) limit 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SCOPE COMPUTE, STORAGE, NETWORK</a:t>
            </a:r>
          </a:p>
        </p:txBody>
      </p:sp>
      <p:sp>
        <p:nvSpPr>
          <p:cNvPr id="3" name="Content Placeholder 2"/>
          <p:cNvSpPr>
            <a:spLocks noGrp="1"/>
          </p:cNvSpPr>
          <p:nvPr>
            <p:ph idx="1"/>
          </p:nvPr>
        </p:nvSpPr>
        <p:spPr/>
        <p:txBody>
          <a:bodyPr/>
          <a:lstStyle/>
          <a:p/>
          <a:p>
            <a:pPr/>
            <a:r>
              <a:t>EcoSync decomposes "Data Center Load" into three vectors:.</a:t>
            </a:r>
          </a:p>
          <a:p>
            <a:pPr/>
            <a:r>
              <a:t>We focus on Deferrable Workloads (asynchronous tasks like indexing, training, reporting).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FEASIBILITY THE PYTHON ECOSYSTEM</a:t>
            </a:r>
          </a:p>
        </p:txBody>
      </p:sp>
      <p:sp>
        <p:nvSpPr>
          <p:cNvPr id="3" name="Content Placeholder 2"/>
          <p:cNvSpPr>
            <a:spLocks noGrp="1"/>
          </p:cNvSpPr>
          <p:nvPr>
            <p:ph idx="1"/>
          </p:nvPr>
        </p:nvSpPr>
        <p:spPr/>
        <p:txBody>
          <a:bodyPr/>
          <a:lstStyle/>
          <a:p/>
          <a:p>
            <a:pPr/>
            <a:r>
              <a:t>The project leverages the Python scientific ecosystem:.</a:t>
            </a:r>
          </a:p>
          <a:p>
            <a:pPr/>
            <a:r>
              <a:t>This stack ensures the tool is accessible to Data Scientists and robust enough for accurate simulation..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CHAPTER 1 SUMMARY</a:t>
            </a:r>
          </a:p>
        </p:txBody>
      </p:sp>
      <p:sp>
        <p:nvSpPr>
          <p:cNvPr id="3" name="Content Placeholder 2"/>
          <p:cNvSpPr>
            <a:spLocks noGrp="1"/>
          </p:cNvSpPr>
          <p:nvPr>
            <p:ph idx="1"/>
          </p:nvPr>
        </p:nvSpPr>
        <p:spPr/>
        <p:txBody>
          <a:bodyPr/>
          <a:lstStyle/>
          <a:p/>
          <a:p>
            <a:pPr/>
            <a:r>
              <a:t>Summary of the "Green Computing" crisis and the "Duck Curve" opportunity.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9. HIGH-LEVEL ARCHITECTURE DESIGN</a:t>
            </a:r>
          </a:p>
        </p:txBody>
      </p:sp>
      <p:sp>
        <p:nvSpPr>
          <p:cNvPr id="3" name="Content Placeholder 2"/>
          <p:cNvSpPr>
            <a:spLocks noGrp="1"/>
          </p:cNvSpPr>
          <p:nvPr>
            <p:ph idx="1"/>
          </p:nvPr>
        </p:nvSpPr>
        <p:spPr/>
        <p:txBody>
          <a:bodyPr/>
          <a:lstStyle/>
          <a:p/>
          <a:p>
            <a:pPr/>
            <a:r>
              <a:t>EcoSync follows a Model-View-Controller (MVC) pattern adapted for AI..</a:t>
            </a:r>
          </a:p>
          <a:p>
            <a:pPr/>
            <a:r>
              <a:t>🏛️ CHAPTER 2: SYSTEM ARCHITECTURE (PAGES 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10. ARCHITECTURE - THE PHYSICS KERNEL</a:t>
            </a:r>
          </a:p>
        </p:txBody>
      </p:sp>
      <p:sp>
        <p:nvSpPr>
          <p:cNvPr id="3" name="Content Placeholder 2"/>
          <p:cNvSpPr>
            <a:spLocks noGrp="1"/>
          </p:cNvSpPr>
          <p:nvPr>
            <p:ph idx="1"/>
          </p:nvPr>
        </p:nvSpPr>
        <p:spPr/>
        <p:txBody>
          <a:bodyPr/>
          <a:lstStyle/>
          <a:p/>
          <a:p>
            <a:pPr/>
            <a:r>
              <a:t>The Physics Kernel is the bedrock of the simulation.</a:t>
            </a:r>
          </a:p>
          <a:p>
            <a:pPr/>
            <a:r>
              <a:t>Energy cannot be created or destroyed.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11. ARCHITECTURE - THE WORKLOAD KERNEL</a:t>
            </a:r>
          </a:p>
        </p:txBody>
      </p:sp>
      <p:sp>
        <p:nvSpPr>
          <p:cNvPr id="3" name="Content Placeholder 2"/>
          <p:cNvSpPr>
            <a:spLocks noGrp="1"/>
          </p:cNvSpPr>
          <p:nvPr>
            <p:ph idx="1"/>
          </p:nvPr>
        </p:nvSpPr>
        <p:spPr/>
        <p:txBody>
          <a:bodyPr/>
          <a:lstStyle/>
          <a:p/>
          <a:p>
            <a:pPr/>
            <a:r>
              <a:t>Simulating User Traffic is complex.</a:t>
            </a:r>
          </a:p>
          <a:p>
            <a:pPr/>
            <a:r>
              <a:t>Our Workload Kernel (`workload.py`) layers three signals:.</a:t>
            </a:r>
          </a:p>
          <a:p>
            <a:pPr/>
            <a:r>
              <a:t>This complexity ensures the AI cannot just "memorize" a static schedule; it must react dynamically to the queue length 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 ARCHITECTURE - THE REINFORCEMENT LEARNING AGENT</a:t>
            </a:r>
          </a:p>
        </p:txBody>
      </p:sp>
      <p:sp>
        <p:nvSpPr>
          <p:cNvPr id="3" name="Content Placeholder 2"/>
          <p:cNvSpPr>
            <a:spLocks noGrp="1"/>
          </p:cNvSpPr>
          <p:nvPr>
            <p:ph idx="1"/>
          </p:nvPr>
        </p:nvSpPr>
        <p:spPr/>
        <p:txBody>
          <a:bodyPr/>
          <a:lstStyle/>
          <a:p/>
          <a:p>
            <a:pPr/>
            <a:r>
              <a:t>The Agent is the decision-making entity.</a:t>
            </a:r>
          </a:p>
          <a:p>
            <a:pPr/>
            <a:r>
              <a:t>We use Proximal Policy Optimization (PPO).</a:t>
            </a:r>
          </a:p>
          <a:p>
            <a:pPr/>
            <a:r>
              <a:t>*   The Actor: Proposes an action (e.g., "Boost")..</a:t>
            </a:r>
          </a:p>
          <a:p>
            <a:pPr/>
            <a:r>
              <a:t>*   The Critic: Estimates the value of that action (e.g., "That's a bad idea, carbon is high")..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13. ARCHITECTURE - THE OBSERVATION TENSOR</a:t>
            </a:r>
          </a:p>
        </p:txBody>
      </p:sp>
      <p:sp>
        <p:nvSpPr>
          <p:cNvPr id="3" name="Content Placeholder 2"/>
          <p:cNvSpPr>
            <a:spLocks noGrp="1"/>
          </p:cNvSpPr>
          <p:nvPr>
            <p:ph idx="1"/>
          </p:nvPr>
        </p:nvSpPr>
        <p:spPr/>
        <p:txBody>
          <a:bodyPr/>
          <a:lstStyle/>
          <a:p/>
          <a:p>
            <a:pPr/>
            <a:r>
              <a:t>The "Eyes" of the AI.</a:t>
            </a:r>
          </a:p>
          <a:p>
            <a:pPr/>
            <a:r>
              <a:t>Normalization is critical.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14. ARCHITECTURE - THE ACTION MANIFOLD</a:t>
            </a:r>
          </a:p>
        </p:txBody>
      </p:sp>
      <p:sp>
        <p:nvSpPr>
          <p:cNvPr id="3" name="Content Placeholder 2"/>
          <p:cNvSpPr>
            <a:spLocks noGrp="1"/>
          </p:cNvSpPr>
          <p:nvPr>
            <p:ph idx="1"/>
          </p:nvPr>
        </p:nvSpPr>
        <p:spPr/>
        <p:txBody>
          <a:bodyPr/>
          <a:lstStyle/>
          <a:p/>
          <a:p>
            <a:pPr/>
            <a:r>
              <a:t>The "Hands" of the AI.</a:t>
            </a:r>
          </a:p>
          <a:p>
            <a:pPr/>
            <a:r>
              <a:t>This "Trinary Logic" is easier for the AI to master than a continuous output (e.g., "Run at 43.5% power").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15. ARCHITECTURE - HYBRID INTELLIGENCE GUARDRAILS</a:t>
            </a:r>
          </a:p>
        </p:txBody>
      </p:sp>
      <p:sp>
        <p:nvSpPr>
          <p:cNvPr id="3" name="Content Placeholder 2"/>
          <p:cNvSpPr>
            <a:spLocks noGrp="1"/>
          </p:cNvSpPr>
          <p:nvPr>
            <p:ph idx="1"/>
          </p:nvPr>
        </p:nvSpPr>
        <p:spPr/>
        <p:txBody>
          <a:bodyPr/>
          <a:lstStyle/>
          <a:p/>
          <a:p>
            <a:pPr/>
            <a:r>
              <a:t>Pure AI is dangerous.</a:t>
            </a:r>
          </a:p>
          <a:p>
            <a:pPr/>
            <a:r>
              <a:t>*   Safety Layer: A pre-processor checks the state before the AI sees it.</a:t>
            </a:r>
          </a:p>
          <a:p>
            <a:pPr/>
            <a:r>
              <a:t>*   Compliance Layer: A post-processor checks the action.</a:t>
            </a:r>
          </a:p>
          <a:p>
            <a:pPr/>
            <a:r>
              <a:t>This Hybrid architecture ensures that the system complies with hard engineering constraints (don't overflow memory) and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16. ARCHITECTURE - DATABASE &amp; STORAGE</a:t>
            </a:r>
          </a:p>
        </p:txBody>
      </p:sp>
      <p:sp>
        <p:nvSpPr>
          <p:cNvPr id="3" name="Content Placeholder 2"/>
          <p:cNvSpPr>
            <a:spLocks noGrp="1"/>
          </p:cNvSpPr>
          <p:nvPr>
            <p:ph idx="1"/>
          </p:nvPr>
        </p:nvSpPr>
        <p:spPr/>
        <p:txBody>
          <a:bodyPr/>
          <a:lstStyle/>
          <a:p/>
          <a:p>
            <a:pPr/>
            <a:r>
              <a:t>EcoSync does not use a SQL database.</a:t>
            </a:r>
          </a:p>
          <a:p>
            <a:pPr/>
            <a:r>
              <a:t>Since the simulation generates ~200,000 data points per run, writing to SQL would slow down the training loop.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17. ARCHITECTURE - THE VISUALIZATION ENGINE</a:t>
            </a:r>
          </a:p>
        </p:txBody>
      </p:sp>
      <p:sp>
        <p:nvSpPr>
          <p:cNvPr id="3" name="Content Placeholder 2"/>
          <p:cNvSpPr>
            <a:spLocks noGrp="1"/>
          </p:cNvSpPr>
          <p:nvPr>
            <p:ph idx="1"/>
          </p:nvPr>
        </p:nvSpPr>
        <p:spPr/>
        <p:txBody>
          <a:bodyPr/>
          <a:lstStyle/>
          <a:p/>
          <a:p>
            <a:pPr/>
            <a:r>
              <a:t>Data is useless if invisible.</a:t>
            </a:r>
          </a:p>
          <a:p>
            <a:pPr/>
            <a:r>
              <a:t>*   Vector Rendering: Charts are SVG/Canvas, not static images.</a:t>
            </a:r>
          </a:p>
          <a:p>
            <a:pPr/>
            <a:r>
              <a:t>*   Dual-Axis: We map Energy (Left Axis) and Carbon (Right Axis) to visualize correlations..</a:t>
            </a:r>
          </a:p>
          <a:p>
            <a:pPr/>
            <a:r>
              <a:t>*   Color Theory: We use "Semantic Colors." Green for Solar, Grey for Grid/Carbon, Red for Drops.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18. ARCHITECTURE - THE STREAMLIT REACTOR</a:t>
            </a:r>
          </a:p>
        </p:txBody>
      </p:sp>
      <p:sp>
        <p:nvSpPr>
          <p:cNvPr id="3" name="Content Placeholder 2"/>
          <p:cNvSpPr>
            <a:spLocks noGrp="1"/>
          </p:cNvSpPr>
          <p:nvPr>
            <p:ph idx="1"/>
          </p:nvPr>
        </p:nvSpPr>
        <p:spPr/>
        <p:txBody>
          <a:bodyPr/>
          <a:lstStyle/>
          <a:p/>
          <a:p>
            <a:pPr/>
            <a:r>
              <a:t>Streamlit introduces a unique "Re-Run" architecture.</a:t>
            </a:r>
          </a:p>
          <a:p>
            <a:pPr/>
            <a:r>
              <a:t>This mimics a "Reactive" framework like React.js but in Python.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19. ARCHITECTURE - SECURITY &amp; INTEGRITY</a:t>
            </a:r>
          </a:p>
        </p:txBody>
      </p:sp>
      <p:sp>
        <p:nvSpPr>
          <p:cNvPr id="3" name="Content Placeholder 2"/>
          <p:cNvSpPr>
            <a:spLocks noGrp="1"/>
          </p:cNvSpPr>
          <p:nvPr>
            <p:ph idx="1"/>
          </p:nvPr>
        </p:nvSpPr>
        <p:spPr/>
        <p:txBody>
          <a:bodyPr/>
          <a:lstStyle/>
          <a:p/>
          <a:p>
            <a:pPr/>
            <a:r>
              <a:t>Even a simulator needs security..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20. ARCHITECTURE - SUMMARY OF DESIGN</a:t>
            </a:r>
          </a:p>
        </p:txBody>
      </p:sp>
      <p:sp>
        <p:nvSpPr>
          <p:cNvPr id="3" name="Content Placeholder 2"/>
          <p:cNvSpPr>
            <a:spLocks noGrp="1"/>
          </p:cNvSpPr>
          <p:nvPr>
            <p:ph idx="1"/>
          </p:nvPr>
        </p:nvSpPr>
        <p:spPr/>
        <p:txBody>
          <a:bodyPr/>
          <a:lstStyle/>
          <a:p/>
          <a:p>
            <a:pPr/>
            <a:r>
              <a:t>Summary of Chapter 2.</a:t>
            </a:r>
          </a:p>
          <a:p>
            <a:pPr/>
            <a:r>
              <a:t>*   Physics: Gaussian Math..</a:t>
            </a:r>
          </a:p>
          <a:p>
            <a:pPr/>
            <a:r>
              <a:t>*   Logic: PPO + Guardrails..</a:t>
            </a:r>
          </a:p>
          <a:p>
            <a:pPr/>
            <a:r>
              <a:t>*   Data: Pandas + 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21. ENERGY MODEL - SOLAR GAUSSIAN MATH</a:t>
            </a:r>
          </a:p>
        </p:txBody>
      </p:sp>
      <p:sp>
        <p:nvSpPr>
          <p:cNvPr id="3" name="Content Placeholder 2"/>
          <p:cNvSpPr>
            <a:spLocks noGrp="1"/>
          </p:cNvSpPr>
          <p:nvPr>
            <p:ph idx="1"/>
          </p:nvPr>
        </p:nvSpPr>
        <p:spPr/>
        <p:txBody>
          <a:bodyPr/>
          <a:lstStyle/>
          <a:p/>
          <a:p>
            <a:pPr/>
            <a:r>
              <a:t>SOURCE CODE REFERENCE: `simulation/energy.py` -&gt; `get_solar_power`.</a:t>
            </a:r>
          </a:p>
          <a:p>
            <a:pPr/>
            <a:r>
              <a:t>The simulation of solar energy is the heartbeat of the EcoSync system.</a:t>
            </a:r>
          </a:p>
          <a:p>
            <a:pPr/>
            <a:r>
              <a:t>The formula $I = e^{-0.5 \cdot (\frac{t - \mu}{\sigma})^2}$ allows us to create a perfect curve of daylight..</a:t>
            </a:r>
          </a:p>
          <a:p>
            <a:pPr/>
            <a:r>
              <a:t>*   $\mu$ (Mu = 12.0): This represents the "Mean" of the distribution.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22. ENERGY MODEL - GRID CARBON INTENSITY</a:t>
            </a:r>
          </a:p>
        </p:txBody>
      </p:sp>
      <p:sp>
        <p:nvSpPr>
          <p:cNvPr id="3" name="Content Placeholder 2"/>
          <p:cNvSpPr>
            <a:spLocks noGrp="1"/>
          </p:cNvSpPr>
          <p:nvPr>
            <p:ph idx="1"/>
          </p:nvPr>
        </p:nvSpPr>
        <p:spPr/>
        <p:txBody>
          <a:bodyPr/>
          <a:lstStyle/>
          <a:p/>
          <a:p>
            <a:pPr/>
            <a:r>
              <a:t>SOURCE CODE REFERENCE: `simulation/energy.py` -&gt; `get_carbon_intensity`.</a:t>
            </a:r>
          </a:p>
          <a:p>
            <a:pPr/>
            <a:r>
              <a:t>Modeling the "Dirtiness" of the grid is crucial.</a:t>
            </a:r>
          </a:p>
          <a:p>
            <a:pPr/>
            <a:r>
              <a:t>This mathematical contour provides the "Adversarial Landscape" that the AI must navigate.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23. WORKLOAD GENERATOR LOGIC</a:t>
            </a:r>
          </a:p>
        </p:txBody>
      </p:sp>
      <p:sp>
        <p:nvSpPr>
          <p:cNvPr id="3" name="Content Placeholder 2"/>
          <p:cNvSpPr>
            <a:spLocks noGrp="1"/>
          </p:cNvSpPr>
          <p:nvPr>
            <p:ph idx="1"/>
          </p:nvPr>
        </p:nvSpPr>
        <p:spPr/>
        <p:txBody>
          <a:bodyPr/>
          <a:lstStyle/>
          <a:p/>
          <a:p>
            <a:pPr/>
            <a:r>
              <a:t>SOURCE CODE REFERENCE: `simulation/workload.py`.</a:t>
            </a:r>
          </a:p>
          <a:p>
            <a:pPr/>
            <a:r>
              <a:t>We use a Heuristic Step Function..</a:t>
            </a:r>
          </a:p>
          <a:p>
            <a:pPr/>
            <a:r>
              <a:t>*   Business Hours (08:00 - 18:00): We set a `base_intensity` of 0.7 (70% load)..</a:t>
            </a:r>
          </a:p>
          <a:p>
            <a:pPr/>
            <a:r>
              <a:t>*   Off-Hours: The base drops to 0.2 (20% load)..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24. THE RL ENVIRONMENT - ACTION SPACE</a:t>
            </a:r>
          </a:p>
        </p:txBody>
      </p:sp>
      <p:sp>
        <p:nvSpPr>
          <p:cNvPr id="3" name="Content Placeholder 2"/>
          <p:cNvSpPr>
            <a:spLocks noGrp="1"/>
          </p:cNvSpPr>
          <p:nvPr>
            <p:ph idx="1"/>
          </p:nvPr>
        </p:nvSpPr>
        <p:spPr/>
        <p:txBody>
          <a:bodyPr/>
          <a:lstStyle/>
          <a:p/>
          <a:p>
            <a:pPr/>
            <a:r>
              <a:t>SOURCE CODE REFERENCE: `simulation/environment.py` -&gt; `step`.</a:t>
            </a:r>
          </a:p>
          <a:p>
            <a:pPr/>
            <a:r>
              <a:t>The AI interacts with the world through 3 discrete actions..</a:t>
            </a:r>
          </a:p>
          <a:p>
            <a:pPr/>
            <a:r>
              <a:t>*   Action 0: BOOST: The "Panic Button." The system ignores all ecological constraints and processes the entire queue (`...</a:t>
            </a:r>
          </a:p>
          <a:p>
            <a:pPr/>
            <a:r>
              <a:t>*   Action 1: ECO: The "Green Path." The system calculates the exact available green energy (`Solar + Wind + Battery`) 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25. THE RL REWARD FUNCTION - THE BRAIN'S MOTIVATION</a:t>
            </a:r>
          </a:p>
        </p:txBody>
      </p:sp>
      <p:sp>
        <p:nvSpPr>
          <p:cNvPr id="3" name="Content Placeholder 2"/>
          <p:cNvSpPr>
            <a:spLocks noGrp="1"/>
          </p:cNvSpPr>
          <p:nvPr>
            <p:ph idx="1"/>
          </p:nvPr>
        </p:nvSpPr>
        <p:spPr/>
        <p:txBody>
          <a:bodyPr/>
          <a:lstStyle/>
          <a:p/>
          <a:p>
            <a:pPr/>
            <a:r>
              <a:t>SOURCE CODE REFERENCE: `simulation/environment.py` -&gt; `reward`.</a:t>
            </a:r>
          </a:p>
          <a:p>
            <a:pPr/>
            <a:r>
              <a:t>The `reward` function defines the "Morality" of the AI Agent..</a:t>
            </a:r>
          </a:p>
          <a:p>
            <a:pPr/>
            <a:r>
              <a:t>`reward = (+1.0 * work) - (0.05 * carbon) - (2.0 * drops)`.</a:t>
            </a:r>
          </a:p>
          <a:p>
            <a:pPr/>
            <a:r>
              <a:t>&lt;!-- MERGED CONTENT FROM THESIS_PART_2_PAGES_26_TO_45.md --&gt;.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26. STATE SPACE OBSERVABILITY</a:t>
            </a:r>
          </a:p>
        </p:txBody>
      </p:sp>
      <p:sp>
        <p:nvSpPr>
          <p:cNvPr id="3" name="Content Placeholder 2"/>
          <p:cNvSpPr>
            <a:spLocks noGrp="1"/>
          </p:cNvSpPr>
          <p:nvPr>
            <p:ph idx="1"/>
          </p:nvPr>
        </p:nvSpPr>
        <p:spPr/>
        <p:txBody>
          <a:bodyPr/>
          <a:lstStyle/>
          <a:p/>
          <a:p>
            <a:pPr/>
            <a:r>
              <a:t>SOURCE CODE REFERENCE: `simulation/environment.py` -&gt; `observation_space`.</a:t>
            </a:r>
          </a:p>
          <a:p>
            <a:pPr/>
            <a:r>
              <a:t>For an AI agent to make intelligent decisions, it must "see" the world effectively.</a:t>
            </a:r>
          </a:p>
          <a:p>
            <a:pPr/>
            <a:r>
              <a:t>The choice of `np.float32` is critical for GPU normalization.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27. AI INFERENCE - THE PPO BRAIN</a:t>
            </a:r>
          </a:p>
        </p:txBody>
      </p:sp>
      <p:sp>
        <p:nvSpPr>
          <p:cNvPr id="3" name="Content Placeholder 2"/>
          <p:cNvSpPr>
            <a:spLocks noGrp="1"/>
          </p:cNvSpPr>
          <p:nvPr>
            <p:ph idx="1"/>
          </p:nvPr>
        </p:nvSpPr>
        <p:spPr/>
        <p:txBody>
          <a:bodyPr/>
          <a:lstStyle/>
          <a:p/>
          <a:p>
            <a:pPr/>
            <a:r>
              <a:t>SOURCE CODE REFERENCE: `simulation/ai_inference.py` -&gt; `infer_action`.</a:t>
            </a:r>
          </a:p>
          <a:p>
            <a:pPr/>
            <a:r>
              <a:t>The inference engine is the runtime component that applies the trained "Brain" to live data.</a:t>
            </a:r>
          </a:p>
          <a:p>
            <a:pPr/>
            <a:r>
              <a:t>When `infer_action` is called, it passes the 7-dimensional observation vector into the policy network.</a:t>
            </a:r>
          </a:p>
          <a:p>
            <a:pPr/>
            <a:r>
              <a:t>We strictly set `deterministic=True`.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28. HYBRID INTELLIGENCE - SAFETY GUARDRAILS</a:t>
            </a:r>
          </a:p>
        </p:txBody>
      </p:sp>
      <p:sp>
        <p:nvSpPr>
          <p:cNvPr id="3" name="Content Placeholder 2"/>
          <p:cNvSpPr>
            <a:spLocks noGrp="1"/>
          </p:cNvSpPr>
          <p:nvPr>
            <p:ph idx="1"/>
          </p:nvPr>
        </p:nvSpPr>
        <p:spPr/>
        <p:txBody>
          <a:bodyPr/>
          <a:lstStyle/>
          <a:p/>
          <a:p>
            <a:pPr/>
            <a:r>
              <a:t>SOURCE CODE REFERENCE: `simulation/ai_inference.py` -&gt; `Guardrails` section.</a:t>
            </a:r>
          </a:p>
          <a:p>
            <a:pPr/>
            <a:r>
              <a:t>Pure AI systems suffer from "Hallucinations" or "Out-of-Distribution" errors.</a:t>
            </a:r>
          </a:p>
          <a:p>
            <a:pPr/>
            <a:r>
              <a:t>*   The Carbon Guardrail: `if carbon &gt; 500 and solar &lt; 50: action = 2 (DEFER)`.</a:t>
            </a:r>
          </a:p>
          <a:p>
            <a:pPr/>
            <a:r>
              <a:t>*   The SLA Guardrail: `elif queue &gt; 450: action = 0 (BOOST)`.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29. DASHBOARD ARCHITECTURE - STREAMLIT</a:t>
            </a:r>
          </a:p>
        </p:txBody>
      </p:sp>
      <p:sp>
        <p:nvSpPr>
          <p:cNvPr id="3" name="Content Placeholder 2"/>
          <p:cNvSpPr>
            <a:spLocks noGrp="1"/>
          </p:cNvSpPr>
          <p:nvPr>
            <p:ph idx="1"/>
          </p:nvPr>
        </p:nvSpPr>
        <p:spPr/>
        <p:txBody>
          <a:bodyPr/>
          <a:lstStyle/>
          <a:p/>
          <a:p>
            <a:pPr/>
            <a:r>
              <a:t>SOURCE CODE REFERENCE: `app.py` -&gt; `st.set_page_config`.</a:t>
            </a:r>
          </a:p>
          <a:p>
            <a:pPr/>
            <a:r>
              <a:t>The user interface is built on Streamlit, a Python-native framework that treats UI as code.</a:t>
            </a:r>
          </a:p>
          <a:p>
            <a:pPr/>
            <a:r>
              <a:t>We configure the page with `layout="wide"` to mimic a professional SaaS control center.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30. THE JAVASCRIPT BRIDGE - UX HACKS</a:t>
            </a:r>
          </a:p>
        </p:txBody>
      </p:sp>
      <p:sp>
        <p:nvSpPr>
          <p:cNvPr id="3" name="Content Placeholder 2"/>
          <p:cNvSpPr>
            <a:spLocks noGrp="1"/>
          </p:cNvSpPr>
          <p:nvPr>
            <p:ph idx="1"/>
          </p:nvPr>
        </p:nvSpPr>
        <p:spPr/>
        <p:txBody>
          <a:bodyPr/>
          <a:lstStyle/>
          <a:p/>
          <a:p>
            <a:pPr/>
            <a:r>
              <a:t>SOURCE CODE REFERENCE: `app.py` -&gt; `components.html`.</a:t>
            </a:r>
          </a:p>
          <a:p>
            <a:pPr/>
            <a:r>
              <a:t>Streamlit has a limitation: it is stateless on the client side.</a:t>
            </a:r>
          </a:p>
          <a:p>
            <a:pPr/>
            <a:r>
              <a:t>`doc.addEventListener('click', ...)`: This code attaches a listener to the parent browser window.</a:t>
            </a:r>
          </a:p>
          <a:p>
            <a:pPr/>
            <a:r>
              <a:t>This "Hack" allows us to create a premium, app-like feel (where menus dismiss themselves) within a standard data science...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31. VISUALIZATION - PLOTLY DUAL AXIS</a:t>
            </a:r>
          </a:p>
        </p:txBody>
      </p:sp>
      <p:sp>
        <p:nvSpPr>
          <p:cNvPr id="3" name="Content Placeholder 2"/>
          <p:cNvSpPr>
            <a:spLocks noGrp="1"/>
          </p:cNvSpPr>
          <p:nvPr>
            <p:ph idx="1"/>
          </p:nvPr>
        </p:nvSpPr>
        <p:spPr/>
        <p:txBody>
          <a:bodyPr/>
          <a:lstStyle/>
          <a:p/>
          <a:p>
            <a:pPr/>
            <a:r>
              <a:t>SOURCE CODE REFERENCE: `app.py` -&gt; `Figure Generation`.</a:t>
            </a:r>
          </a:p>
          <a:p>
            <a:pPr/>
            <a:r>
              <a:t>Auditing energy data requires correlating two distinct units: Kilowatts (Power) and Grams (Carbon).</a:t>
            </a:r>
          </a:p>
          <a:p>
            <a:pPr/>
            <a:r>
              <a:t>*   Primary Axis (Left): Displays the "Green Energy Curve" relative to the "Grid Energy Curve" in kW.</a:t>
            </a:r>
          </a:p>
          <a:p>
            <a:pPr/>
            <a:r>
              <a:t>*   Secondary Axis (Right): Displays the "Carbon Intensity" line in gCO2/kWh..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32. HISTORICAL AUDIT LOG LOGIC</a:t>
            </a:r>
          </a:p>
        </p:txBody>
      </p:sp>
      <p:sp>
        <p:nvSpPr>
          <p:cNvPr id="3" name="Content Placeholder 2"/>
          <p:cNvSpPr>
            <a:spLocks noGrp="1"/>
          </p:cNvSpPr>
          <p:nvPr>
            <p:ph idx="1"/>
          </p:nvPr>
        </p:nvSpPr>
        <p:spPr/>
        <p:txBody>
          <a:bodyPr/>
          <a:lstStyle/>
          <a:p/>
          <a:p>
            <a:pPr/>
            <a:r>
              <a:t>SOURCE CODE REFERENCE: `app.py` -&gt; `Audit Section`.</a:t>
            </a:r>
          </a:p>
          <a:p>
            <a:pPr/>
            <a:r>
              <a:t>Transparency is a core requirement of ESG compliance.</a:t>
            </a:r>
          </a:p>
          <a:p>
            <a:pPr/>
            <a:r>
              <a:t>This report regenerates the exact weather conditions of that past day (using the simulation seed) and replays the AI's 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33. TRAINING LOOP RADIOLOGY</a:t>
            </a:r>
          </a:p>
        </p:txBody>
      </p:sp>
      <p:sp>
        <p:nvSpPr>
          <p:cNvPr id="3" name="Content Placeholder 2"/>
          <p:cNvSpPr>
            <a:spLocks noGrp="1"/>
          </p:cNvSpPr>
          <p:nvPr>
            <p:ph idx="1"/>
          </p:nvPr>
        </p:nvSpPr>
        <p:spPr/>
        <p:txBody>
          <a:bodyPr/>
          <a:lstStyle/>
          <a:p/>
          <a:p>
            <a:pPr/>
            <a:r>
              <a:t>SOURCE CODE REFERENCE: `training.py` -&gt; `model.learn`.</a:t>
            </a:r>
          </a:p>
          <a:p>
            <a:pPr/>
            <a:r>
              <a:t>The `train()` function is where the intelligence is born.</a:t>
            </a:r>
          </a:p>
          <a:p>
            <a:pPr/>
            <a:r>
              <a:t>*   Episode Structure: The simulation runs in 24-hour episodes.</a:t>
            </a:r>
          </a:p>
          <a:p>
            <a:pPr/>
            <a:r>
              <a:t>*   Entropy Loss: This metric tracks how "random" the AI is acting.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 RESULTS - SCENARIO A (SUNNY DAY)</a:t>
            </a:r>
          </a:p>
        </p:txBody>
      </p:sp>
      <p:sp>
        <p:nvSpPr>
          <p:cNvPr id="3" name="Content Placeholder 2"/>
          <p:cNvSpPr>
            <a:spLocks noGrp="1"/>
          </p:cNvSpPr>
          <p:nvPr>
            <p:ph idx="1"/>
          </p:nvPr>
        </p:nvSpPr>
        <p:spPr/>
        <p:txBody>
          <a:bodyPr/>
          <a:lstStyle/>
          <a:p/>
          <a:p>
            <a:pPr/>
            <a:r>
              <a:t>FIG 1.1: Sunny Day Profile.</a:t>
            </a:r>
          </a:p>
          <a:p>
            <a:pPr/>
            <a:r>
              <a:t>We benchmarked the system on a simulated "Ideal Summer Day" with 0% cloud cover..</a:t>
            </a:r>
          </a:p>
          <a:p>
            <a:pPr/>
            <a:r>
              <a:t>*   Solar Profile: Perfect Gaussian curve peaking at 850kW at noon..</a:t>
            </a:r>
          </a:p>
          <a:p>
            <a:pPr/>
            <a:r>
              <a:t>*   AI Behavior: The AI correctly identified the surplus energy.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35. RESULTS - SCENARIO B (RAINY NIGHT)</a:t>
            </a:r>
          </a:p>
        </p:txBody>
      </p:sp>
      <p:sp>
        <p:nvSpPr>
          <p:cNvPr id="3" name="Content Placeholder 2"/>
          <p:cNvSpPr>
            <a:spLocks noGrp="1"/>
          </p:cNvSpPr>
          <p:nvPr>
            <p:ph idx="1"/>
          </p:nvPr>
        </p:nvSpPr>
        <p:spPr/>
        <p:txBody>
          <a:bodyPr/>
          <a:lstStyle/>
          <a:p/>
          <a:p>
            <a:pPr/>
            <a:r>
              <a:t>FIG 1.2: Storm Profile.</a:t>
            </a:r>
          </a:p>
          <a:p>
            <a:pPr/>
            <a:r>
              <a:t>We stress-tested the system on a "Heavy Storm Night" with 90% cloud cover and high grid carbon (600g)..</a:t>
            </a:r>
          </a:p>
          <a:p>
            <a:pPr/>
            <a:r>
              <a:t>*   Solar Profile: Flatline near zero..</a:t>
            </a:r>
          </a:p>
          <a:p>
            <a:pPr/>
            <a:r>
              <a:t>*   AI Behavior: The AI switched to a DEFER-Heavy strategy.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36. COMPARATIVE ANALYSIS - AI VS ROUND ROBIN</a:t>
            </a:r>
          </a:p>
        </p:txBody>
      </p:sp>
      <p:sp>
        <p:nvSpPr>
          <p:cNvPr id="3" name="Content Placeholder 2"/>
          <p:cNvSpPr>
            <a:spLocks noGrp="1"/>
          </p:cNvSpPr>
          <p:nvPr>
            <p:ph idx="1"/>
          </p:nvPr>
        </p:nvSpPr>
        <p:spPr/>
        <p:txBody>
          <a:bodyPr/>
          <a:lstStyle/>
          <a:p/>
          <a:p>
            <a:pPr/>
            <a:r>
              <a:t>We compared EcoSync against a standard Round-Robin scheduler (which processes tasks immediately as they arrive)..</a:t>
            </a:r>
          </a:p>
          <a:p>
            <a:pPr/>
            <a:r>
              <a:t>*   Baseline (Round Robin): Consumed 100% grid energy during the 7 PM peak.</a:t>
            </a:r>
          </a:p>
          <a:p>
            <a:pPr/>
            <a:r>
              <a:t>*   EcoSync: Deferred 70% of peak tasks to the 2 AM wind window.</a:t>
            </a:r>
          </a:p>
          <a:p>
            <a:pPr/>
            <a:r>
              <a:t>*   Conclusion: EcoSync achieved a 29.3% reduction in Carbon Footprint.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37. BATTERY HEALTH ANALYSIS</a:t>
            </a:r>
          </a:p>
        </p:txBody>
      </p:sp>
      <p:sp>
        <p:nvSpPr>
          <p:cNvPr id="3" name="Content Placeholder 2"/>
          <p:cNvSpPr>
            <a:spLocks noGrp="1"/>
          </p:cNvSpPr>
          <p:nvPr>
            <p:ph idx="1"/>
          </p:nvPr>
        </p:nvSpPr>
        <p:spPr/>
        <p:txBody>
          <a:bodyPr/>
          <a:lstStyle/>
          <a:p/>
          <a:p>
            <a:pPr/>
            <a:r>
              <a:t>A hidden cost of sustainability is battery degradation.</a:t>
            </a:r>
          </a:p>
          <a:p>
            <a:pPr/>
            <a:r>
              <a:t>The AI learned a "Shallow Cycling" strategy.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38. SCALABILITY &amp; PERFORMANCE</a:t>
            </a:r>
          </a:p>
        </p:txBody>
      </p:sp>
      <p:sp>
        <p:nvSpPr>
          <p:cNvPr id="3" name="Content Placeholder 2"/>
          <p:cNvSpPr>
            <a:spLocks noGrp="1"/>
          </p:cNvSpPr>
          <p:nvPr>
            <p:ph idx="1"/>
          </p:nvPr>
        </p:nvSpPr>
        <p:spPr/>
        <p:txBody>
          <a:bodyPr/>
          <a:lstStyle/>
          <a:p/>
          <a:p>
            <a:pPr/>
            <a:r>
              <a:t>We tested the inference latency of the system..</a:t>
            </a:r>
          </a:p>
          <a:p>
            <a:pPr/>
            <a:r>
              <a:t>*   Model Size: The PPO `zip` file is only 40KB..</a:t>
            </a:r>
          </a:p>
          <a:p>
            <a:pPr/>
            <a:r>
              <a:t>*   Inference Speed: On a standard CPU (No GPU), the `predict()` call takes 1.2ms..</a:t>
            </a:r>
          </a:p>
          <a:p>
            <a:pPr/>
            <a:r>
              <a:t>*   Throughput: The system can handle ~800 decisions per second..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39. ETHICAL IMPLICATIONS</a:t>
            </a:r>
          </a:p>
        </p:txBody>
      </p:sp>
      <p:sp>
        <p:nvSpPr>
          <p:cNvPr id="3" name="Content Placeholder 2"/>
          <p:cNvSpPr>
            <a:spLocks noGrp="1"/>
          </p:cNvSpPr>
          <p:nvPr>
            <p:ph idx="1"/>
          </p:nvPr>
        </p:nvSpPr>
        <p:spPr/>
        <p:txBody>
          <a:bodyPr/>
          <a:lstStyle/>
          <a:p/>
          <a:p>
            <a:pPr/>
            <a:r>
              <a:t>While successful, carbon-aware computing raises ethical questions..</a:t>
            </a:r>
          </a:p>
          <a:p>
            <a:pPr/>
            <a:r>
              <a:t>EcoSync addresses this by suggesting "Collaborative Scheduling," where data centers communicate with the grid operator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40. VIVA VOCE - TECHNICAL Q&amp;A (1-5)</a:t>
            </a:r>
          </a:p>
        </p:txBody>
      </p:sp>
      <p:sp>
        <p:nvSpPr>
          <p:cNvPr id="3" name="Content Placeholder 2"/>
          <p:cNvSpPr>
            <a:spLocks noGrp="1"/>
          </p:cNvSpPr>
          <p:nvPr>
            <p:ph idx="1"/>
          </p:nvPr>
        </p:nvSpPr>
        <p:spPr/>
        <p:txBody>
          <a:bodyPr/>
          <a:lstStyle/>
          <a:p/>
          <a:p>
            <a:pPr/>
            <a:r>
              <a:t>Q1: Why did you use PPO instead of DQN?.</a:t>
            </a:r>
          </a:p>
          <a:p>
            <a:pPr/>
            <a:r>
              <a:t>A: DQN handles discrete spaces well but causes instability during training (high variance).</a:t>
            </a:r>
          </a:p>
          <a:p>
            <a:pPr/>
            <a:r>
              <a:t>Q2: What is the input to your Neural Network?.</a:t>
            </a:r>
          </a:p>
          <a:p>
            <a:pPr/>
            <a:r>
              <a:t>A: A 7-dimensional vector: [Hour, Solar_kW, Wind_kW, Carbon_Intensity, Queue_Size, Battery_SoC, Task_Age]..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41. VIVA VOCE - TECHNICAL Q&amp;A (6-10)</a:t>
            </a:r>
          </a:p>
        </p:txBody>
      </p:sp>
      <p:sp>
        <p:nvSpPr>
          <p:cNvPr id="3" name="Content Placeholder 2"/>
          <p:cNvSpPr>
            <a:spLocks noGrp="1"/>
          </p:cNvSpPr>
          <p:nvPr>
            <p:ph idx="1"/>
          </p:nvPr>
        </p:nvSpPr>
        <p:spPr/>
        <p:txBody>
          <a:bodyPr/>
          <a:lstStyle/>
          <a:p/>
          <a:p>
            <a:pPr/>
            <a:r>
              <a:t>Q6: What library generates the UI?.</a:t>
            </a:r>
          </a:p>
          <a:p>
            <a:pPr/>
            <a:r>
              <a:t>A: Streamlit.</a:t>
            </a:r>
          </a:p>
          <a:p>
            <a:pPr/>
            <a:r>
              <a:t>Q7: How does the AI know it's "Morning"?.</a:t>
            </a:r>
          </a:p>
          <a:p>
            <a:pPr/>
            <a:r>
              <a:t>A: The `Hour` variable is normalized (0 to 24).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42. FUTURE SCOPE - MULTI-REGION</a:t>
            </a:r>
          </a:p>
        </p:txBody>
      </p:sp>
      <p:sp>
        <p:nvSpPr>
          <p:cNvPr id="3" name="Content Placeholder 2"/>
          <p:cNvSpPr>
            <a:spLocks noGrp="1"/>
          </p:cNvSpPr>
          <p:nvPr>
            <p:ph idx="1"/>
          </p:nvPr>
        </p:nvSpPr>
        <p:spPr/>
        <p:txBody>
          <a:bodyPr/>
          <a:lstStyle/>
          <a:p/>
          <a:p>
            <a:pPr/>
            <a:r>
              <a:t>The current EcoSync model optimizes a single location (Temporal Shifting).</a:t>
            </a:r>
          </a:p>
          <a:p>
            <a:pPr/>
            <a:r>
              <a:t>Imagine three EcoSync nodes: one in California (Sunny), one in Iceland (Windy), and one in India (Night).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43. FUTURE SCOPE - REAL-TIME HARDWARE API</a:t>
            </a:r>
          </a:p>
        </p:txBody>
      </p:sp>
      <p:sp>
        <p:nvSpPr>
          <p:cNvPr id="3" name="Content Placeholder 2"/>
          <p:cNvSpPr>
            <a:spLocks noGrp="1"/>
          </p:cNvSpPr>
          <p:nvPr>
            <p:ph idx="1"/>
          </p:nvPr>
        </p:nvSpPr>
        <p:spPr/>
        <p:txBody>
          <a:bodyPr/>
          <a:lstStyle/>
          <a:p/>
          <a:p>
            <a:pPr/>
            <a:r>
              <a:t>Currently, EcoSync is a simulator.</a:t>
            </a:r>
          </a:p>
          <a:p>
            <a:pPr/>
            <a:r>
              <a:t>*   Workload: Connect `workload.py` to Kubernetes API to read real pod queue depths..</a:t>
            </a:r>
          </a:p>
          <a:p>
            <a:pPr/>
            <a:r>
              <a:t>*   Energy: Connect `energy.py` to the Solar Inverter's Modbus/TCP output for live generation readings..</a:t>
            </a:r>
          </a:p>
          <a:p>
            <a:pPr/>
            <a:r>
              <a:t>*   Grid: Integration with the "ElectricityMaps API" or "WattTime API" to get real-time local carbon intensity..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44. CONCLUSION - THE FINAL VERDICT</a:t>
            </a:r>
          </a:p>
        </p:txBody>
      </p:sp>
      <p:sp>
        <p:nvSpPr>
          <p:cNvPr id="3" name="Content Placeholder 2"/>
          <p:cNvSpPr>
            <a:spLocks noGrp="1"/>
          </p:cNvSpPr>
          <p:nvPr>
            <p:ph idx="1"/>
          </p:nvPr>
        </p:nvSpPr>
        <p:spPr/>
        <p:txBody>
          <a:bodyPr/>
          <a:lstStyle/>
          <a:p/>
          <a:p>
            <a:pPr/>
            <a:r>
              <a:t>This project set out to answer a specific question: *Can Artificial Intelligence be trained to manage the ecological foo...</a:t>
            </a:r>
          </a:p>
          <a:p>
            <a:pPr/>
            <a:r>
              <a:t>EcoSync demonstrates that a PPO-based agent, when constrained by safety guardrails, can effectively navigate the complex...</a:t>
            </a:r>
          </a:p>
          <a:p>
            <a:pPr/>
            <a:r>
              <a:t>We proved that Temporal Load Shifting is a viable strategy for decarbonization, offering up to 35% reduction in grid rel...</a:t>
            </a:r>
          </a:p>
          <a:p>
            <a:pPr/>
            <a:r>
              <a:t>This project contributes a robust, open-source framework to the academic community, lowering the barrier to entry for Gr...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45. BIBLIOGRAPHY &amp; REFERENCES</a:t>
            </a:r>
          </a:p>
        </p:txBody>
      </p:sp>
      <p:sp>
        <p:nvSpPr>
          <p:cNvPr id="3" name="Content Placeholder 2"/>
          <p:cNvSpPr>
            <a:spLocks noGrp="1"/>
          </p:cNvSpPr>
          <p:nvPr>
            <p:ph idx="1"/>
          </p:nvPr>
        </p:nvSpPr>
        <p:spPr/>
        <p:txBody>
          <a:bodyPr/>
          <a:lstStyle/>
          <a:p/>
          <a:p>
            <a:pPr/>
            <a:r>
              <a:t>&lt;!-- MERGED CONTENT FROM THESIS_PART_3_PAGES_46_TO_54.md --&gt;.</a:t>
            </a:r>
          </a:p>
          <a:p>
            <a:pPr/>
            <a:r>
              <a:t>🎓 ECOSYNC: PART 3 - THESIS SOURCE (PAGES 46 - 54).</a:t>
            </a:r>
          </a:p>
          <a:p>
            <a:pPr/>
            <a:r>
              <a:t>THIS DOCUMENT CONTAINS THE CONTENT FOR THE APPENDIX INTRO..</a:t>
            </a:r>
          </a:p>
          <a:p>
            <a:pPr/>
            <a:r>
              <a:t>INSTRUCTION TO NOTEBOOKLM: COMBINE THIS WITH PART 1, 2, and 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46. APPENDIX A - ENERGY MODEL (CODE)</a:t>
            </a:r>
          </a:p>
        </p:txBody>
      </p:sp>
      <p:sp>
        <p:nvSpPr>
          <p:cNvPr id="3" name="Content Placeholder 2"/>
          <p:cNvSpPr>
            <a:spLocks noGrp="1"/>
          </p:cNvSpPr>
          <p:nvPr>
            <p:ph idx="1"/>
          </p:nvPr>
        </p:nvSpPr>
        <p:spPr/>
        <p:txBody>
          <a:bodyPr/>
          <a:lstStyle/>
          <a:p/>
          <a:p>
            <a:pPr/>
            <a:r>
              <a:t>SOURCE CODE: `simulation/energy.py`.</a:t>
            </a:r>
          </a:p>
          <a:p>
            <a:pPr/>
            <a:r>
              <a:t>self.solar_capacity = solar_capacity.</a:t>
            </a:r>
          </a:p>
          <a:p>
            <a:pPr/>
            <a:r>
              <a:t>self.wind_capacity = wind_capacity.</a:t>
            </a:r>
          </a:p>
          <a:p>
            <a:pPr/>
            <a:r>
              <a:t>Solar is zero during night hours.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47. APPENDIX A - ENERGY MODEL (WIND &amp; CARBON)</a:t>
            </a:r>
          </a:p>
        </p:txBody>
      </p:sp>
      <p:sp>
        <p:nvSpPr>
          <p:cNvPr id="3" name="Content Placeholder 2"/>
          <p:cNvSpPr>
            <a:spLocks noGrp="1"/>
          </p:cNvSpPr>
          <p:nvPr>
            <p:ph idx="1"/>
          </p:nvPr>
        </p:nvSpPr>
        <p:spPr/>
        <p:txBody>
          <a:bodyPr/>
          <a:lstStyle/>
          <a:p/>
          <a:p>
            <a:pPr/>
            <a:r>
              <a:t>SOURCE CODE: `simulation/energy.py` (Cont.).</a:t>
            </a:r>
          </a:p>
          <a:p>
            <a:pPr/>
            <a:r>
              <a:t>Wind is more consistent but has gusts.</a:t>
            </a:r>
          </a:p>
          <a:p>
            <a:pPr/>
            <a:r>
              <a:t>base_wind = self.wind_capacity * 0.4.</a:t>
            </a:r>
          </a:p>
          <a:p>
            <a:pPr/>
            <a:r>
              <a:t>gust = math.sin(hour / 3.0) * 10.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48. APPENDIX B - WORKLOAD GENERATOR</a:t>
            </a:r>
          </a:p>
        </p:txBody>
      </p:sp>
      <p:sp>
        <p:nvSpPr>
          <p:cNvPr id="3" name="Content Placeholder 2"/>
          <p:cNvSpPr>
            <a:spLocks noGrp="1"/>
          </p:cNvSpPr>
          <p:nvPr>
            <p:ph idx="1"/>
          </p:nvPr>
        </p:nvSpPr>
        <p:spPr/>
        <p:txBody>
          <a:bodyPr/>
          <a:lstStyle/>
          <a:p/>
          <a:p>
            <a:pPr/>
            <a:r>
              <a:t>SOURCE CODE: `simulation/workload.py`.</a:t>
            </a:r>
          </a:p>
          <a:p>
            <a:pPr/>
            <a:r>
              <a:t>class WorkloadGenerator:.</a:t>
            </a:r>
          </a:p>
          <a:p>
            <a:pPr/>
            <a:r>
              <a:t>Business hours have higher baseline.</a:t>
            </a:r>
          </a:p>
          <a:p>
            <a:pPr/>
            <a:r>
              <a:t>variability = np.random.uniform(-0.1, 0.2).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49. APPENDIX C - RL ENVIRONMENT (INIT)</a:t>
            </a:r>
          </a:p>
        </p:txBody>
      </p:sp>
      <p:sp>
        <p:nvSpPr>
          <p:cNvPr id="3" name="Content Placeholder 2"/>
          <p:cNvSpPr>
            <a:spLocks noGrp="1"/>
          </p:cNvSpPr>
          <p:nvPr>
            <p:ph idx="1"/>
          </p:nvPr>
        </p:nvSpPr>
        <p:spPr/>
        <p:txBody>
          <a:bodyPr/>
          <a:lstStyle/>
          <a:p/>
          <a:p>
            <a:pPr/>
            <a:r>
              <a:t>SOURCE CODE: `simulation/environment.py`.</a:t>
            </a:r>
          </a:p>
          <a:p>
            <a:pPr/>
            <a:r>
              <a:t>from gymnasium import spaces.</a:t>
            </a:r>
          </a:p>
          <a:p>
            <a:pPr/>
            <a:r>
              <a:t>class DataCenterEnv(gym.Env):.</a:t>
            </a:r>
          </a:p>
          <a:p>
            <a:pPr/>
            <a:r>
              <a:t>super(DataCenterEnv, self).init().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50. APPENDIX C - RL ENVIRONMENT (STEP LOGIC)</a:t>
            </a:r>
          </a:p>
        </p:txBody>
      </p:sp>
      <p:sp>
        <p:nvSpPr>
          <p:cNvPr id="3" name="Content Placeholder 2"/>
          <p:cNvSpPr>
            <a:spLocks noGrp="1"/>
          </p:cNvSpPr>
          <p:nvPr>
            <p:ph idx="1"/>
          </p:nvPr>
        </p:nvSpPr>
        <p:spPr/>
        <p:txBody>
          <a:bodyPr/>
          <a:lstStyle/>
          <a:p/>
          <a:p>
            <a:pPr/>
            <a:r>
              <a:t>SOURCE CODE: `simulation/environment.py` (Step Method).</a:t>
            </a:r>
          </a:p>
          <a:p>
            <a:pPr/>
            <a:r>
              <a:t>hour = self.state[0].</a:t>
            </a:r>
          </a:p>
          <a:p>
            <a:pPr/>
            <a:r>
              <a:t>Calculate available green energy.</a:t>
            </a:r>
          </a:p>
          <a:p>
            <a:pPr/>
            <a:r>
              <a:t>green_energy = self.solar + self.wind + self.battery.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51. APPENDIX C - RL ENVIRONMENT (REWARD)</a:t>
            </a:r>
          </a:p>
        </p:txBody>
      </p:sp>
      <p:sp>
        <p:nvSpPr>
          <p:cNvPr id="3" name="Content Placeholder 2"/>
          <p:cNvSpPr>
            <a:spLocks noGrp="1"/>
          </p:cNvSpPr>
          <p:nvPr>
            <p:ph idx="1"/>
          </p:nvPr>
        </p:nvSpPr>
        <p:spPr/>
        <p:txBody>
          <a:bodyPr/>
          <a:lstStyle/>
          <a:p/>
          <a:p>
            <a:pPr/>
            <a:r>
              <a:t>SOURCE CODE: `simulation/environment.py` (Reward).</a:t>
            </a:r>
          </a:p>
          <a:p>
            <a:pPr/>
            <a:r>
              <a:t>+1.0 for doing work.</a:t>
            </a:r>
          </a:p>
          <a:p>
            <a:pPr/>
            <a:r>
              <a:t>-0.05 for pollution.</a:t>
            </a:r>
          </a:p>
          <a:p>
            <a:pPr/>
            <a:r>
              <a:t>-2.0 for failing (dropping tasks).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52. APPENDIX D - AI INFERENCE ENGINE</a:t>
            </a:r>
          </a:p>
        </p:txBody>
      </p:sp>
      <p:sp>
        <p:nvSpPr>
          <p:cNvPr id="3" name="Content Placeholder 2"/>
          <p:cNvSpPr>
            <a:spLocks noGrp="1"/>
          </p:cNvSpPr>
          <p:nvPr>
            <p:ph idx="1"/>
          </p:nvPr>
        </p:nvSpPr>
        <p:spPr/>
        <p:txBody>
          <a:bodyPr/>
          <a:lstStyle/>
          <a:p/>
          <a:p>
            <a:pPr/>
            <a:r>
              <a:t>SOURCE CODE: `simulation/ai_inference.py`.</a:t>
            </a:r>
          </a:p>
          <a:p>
            <a:pPr/>
            <a:r>
              <a:t>from stable_baselines3 import PPO.</a:t>
            </a:r>
          </a:p>
          <a:p>
            <a:pPr/>
            <a:r>
              <a:t>class AIInferenceEngine:.</a:t>
            </a:r>
          </a:p>
          <a:p>
            <a:pPr/>
            <a:r>
              <a:t>self.model = PPO.load(model_path).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53. APPENDIX E - ANALYTICS UTILS</a:t>
            </a:r>
          </a:p>
        </p:txBody>
      </p:sp>
      <p:sp>
        <p:nvSpPr>
          <p:cNvPr id="3" name="Content Placeholder 2"/>
          <p:cNvSpPr>
            <a:spLocks noGrp="1"/>
          </p:cNvSpPr>
          <p:nvPr>
            <p:ph idx="1"/>
          </p:nvPr>
        </p:nvSpPr>
        <p:spPr/>
        <p:txBody>
          <a:bodyPr/>
          <a:lstStyle/>
          <a:p/>
          <a:p>
            <a:pPr/>
            <a:r>
              <a:t>SOURCE CODE: `simulation/auxiliary.py`.</a:t>
            </a:r>
          </a:p>
          <a:p>
            <a:pPr/>
            <a:r>
              <a:t>total_carbon = (df['grid_used'] * df['carbon_intensity']).sum().</a:t>
            </a:r>
          </a:p>
          <a:p>
            <a:pPr/>
            <a:r>
              <a:t>total_tasks = df['tasks_processed'].sum().</a:t>
            </a:r>
          </a:p>
          <a:p>
            <a:pPr/>
            <a:r>
              <a:t>avg_latency = df['queue_length'].mean().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54. APPENDIX F - FRONTEND AUDIT LOG</a:t>
            </a:r>
          </a:p>
        </p:txBody>
      </p:sp>
      <p:sp>
        <p:nvSpPr>
          <p:cNvPr id="3" name="Content Placeholder 2"/>
          <p:cNvSpPr>
            <a:spLocks noGrp="1"/>
          </p:cNvSpPr>
          <p:nvPr>
            <p:ph idx="1"/>
          </p:nvPr>
        </p:nvSpPr>
        <p:spPr/>
        <p:txBody>
          <a:bodyPr/>
          <a:lstStyle/>
          <a:p/>
          <a:p>
            <a:pPr/>
            <a:r>
              <a:t>SOURCE CODE: `app.py` (Audit Logic).</a:t>
            </a:r>
          </a:p>
          <a:p>
            <a:pPr/>
            <a:r>
              <a:t>if st.button("Generate Historical Report"):.</a:t>
            </a:r>
          </a:p>
          <a:p>
            <a:pPr/>
            <a:r>
              <a:t>st.session_state['audit_active'] = True.</a:t>
            </a:r>
          </a:p>
          <a:p>
            <a:pPr/>
            <a:r>
              <a:t>if st.session_state.get('audit_active'):.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55. APPENDIX G - ENVIRONMENT (IMPORTS &amp; INIT)</a:t>
            </a:r>
          </a:p>
        </p:txBody>
      </p:sp>
      <p:sp>
        <p:nvSpPr>
          <p:cNvPr id="3" name="Content Placeholder 2"/>
          <p:cNvSpPr>
            <a:spLocks noGrp="1"/>
          </p:cNvSpPr>
          <p:nvPr>
            <p:ph idx="1"/>
          </p:nvPr>
        </p:nvSpPr>
        <p:spPr/>
        <p:txBody>
          <a:bodyPr/>
          <a:lstStyle/>
          <a:p/>
          <a:p>
            <a:pPr/>
            <a:r>
              <a:t>SOURCE CODE: `simulation/environment.py` (Part 1).</a:t>
            </a:r>
          </a:p>
          <a:p>
            <a:pPr/>
            <a:r>
              <a:t>from gymnasium import spaces.</a:t>
            </a:r>
          </a:p>
          <a:p>
            <a:pPr/>
            <a:r>
              <a:t>from .energy import EnergyModel.</a:t>
            </a:r>
          </a:p>
          <a:p>
            <a:pPr/>
            <a:r>
              <a:t>from .workload import WorkloadGenerator.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56. APPENDIX G - ENVIRONMENT (OBSERVATION SPACE)</a:t>
            </a:r>
          </a:p>
        </p:txBody>
      </p:sp>
      <p:sp>
        <p:nvSpPr>
          <p:cNvPr id="3" name="Content Placeholder 2"/>
          <p:cNvSpPr>
            <a:spLocks noGrp="1"/>
          </p:cNvSpPr>
          <p:nvPr>
            <p:ph idx="1"/>
          </p:nvPr>
        </p:nvSpPr>
        <p:spPr/>
        <p:txBody>
          <a:bodyPr/>
          <a:lstStyle/>
          <a:p/>
          <a:p>
            <a:pPr/>
            <a:r>
              <a:t>SOURCE CODE: `simulation/environment.py` (Part 2).</a:t>
            </a:r>
          </a:p>
          <a:p>
            <a:pPr/>
            <a:r>
              <a:t>Observation space: [Hour, Solar, Wind, Carbon, Queue, Battery, TaskAge].</a:t>
            </a:r>
          </a:p>
          <a:p>
            <a:pPr/>
            <a:r>
              <a:t>self.observation_space = spaces.Box(.</a:t>
            </a:r>
          </a:p>
          <a:p>
            <a:pPr/>
            <a:r>
              <a:t>self.battery_capacity = 200.0.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57. APPENDIX G - ENVIRONMENT (RESET LOGIC)</a:t>
            </a:r>
          </a:p>
        </p:txBody>
      </p:sp>
      <p:sp>
        <p:nvSpPr>
          <p:cNvPr id="3" name="Content Placeholder 2"/>
          <p:cNvSpPr>
            <a:spLocks noGrp="1"/>
          </p:cNvSpPr>
          <p:nvPr>
            <p:ph idx="1"/>
          </p:nvPr>
        </p:nvSpPr>
        <p:spPr/>
        <p:txBody>
          <a:bodyPr/>
          <a:lstStyle/>
          <a:p/>
          <a:p>
            <a:pPr/>
            <a:r>
              <a:t>SOURCE CODE: `simulation/environment.py` (Part 3).</a:t>
            </a:r>
          </a:p>
          <a:p>
            <a:pPr/>
            <a:r>
              <a:t>super().reset(seed=seed).</a:t>
            </a:r>
          </a:p>
          <a:p>
            <a:pPr/>
            <a:r>
              <a:t>self.state = np.zeros(7, dtype=np.float32).</a:t>
            </a:r>
          </a:p>
          <a:p>
            <a:pPr/>
            <a:r>
              <a:t>self.battery = 100.0 # Start at 50% capacity.</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58. APPENDIX G - ENVIRONMENT (STATE NORMALIZATION)</a:t>
            </a:r>
          </a:p>
        </p:txBody>
      </p:sp>
      <p:sp>
        <p:nvSpPr>
          <p:cNvPr id="3" name="Content Placeholder 2"/>
          <p:cNvSpPr>
            <a:spLocks noGrp="1"/>
          </p:cNvSpPr>
          <p:nvPr>
            <p:ph idx="1"/>
          </p:nvPr>
        </p:nvSpPr>
        <p:spPr/>
        <p:txBody>
          <a:bodyPr/>
          <a:lstStyle/>
          <a:p/>
          <a:p>
            <a:pPr/>
            <a:r>
              <a:t>SOURCE CODE: `simulation/environment.py` (Part 4).</a:t>
            </a:r>
          </a:p>
          <a:p>
            <a:pPr/>
            <a:r>
              <a:t>solar = self.energy_model.get_solar_power(self.hour).</a:t>
            </a:r>
          </a:p>
          <a:p>
            <a:pPr/>
            <a:r>
              <a:t>wind = self.energy_model.get_wind_power(self.hour).</a:t>
            </a:r>
          </a:p>
          <a:p>
            <a:pPr/>
            <a:r>
              <a:t>carbon = self.energy_model.get_carbon_intensity(self.hour).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59. APPENDIX G - ENVIRONMENT (STEP &amp; INPUTS)</a:t>
            </a:r>
          </a:p>
        </p:txBody>
      </p:sp>
      <p:sp>
        <p:nvSpPr>
          <p:cNvPr id="3" name="Content Placeholder 2"/>
          <p:cNvSpPr>
            <a:spLocks noGrp="1"/>
          </p:cNvSpPr>
          <p:nvPr>
            <p:ph idx="1"/>
          </p:nvPr>
        </p:nvSpPr>
        <p:spPr/>
        <p:txBody>
          <a:bodyPr/>
          <a:lstStyle/>
          <a:p/>
          <a:p>
            <a:pPr/>
            <a:r>
              <a:t>SOURCE CODE: `simulation/environment.py` (Part 5).</a:t>
            </a:r>
          </a:p>
          <a:p>
            <a:pPr/>
            <a:r>
              <a:t>self.hour = (self.hour + 1) % 24.</a:t>
            </a:r>
          </a:p>
          <a:p>
            <a:pPr/>
            <a:r>
              <a:t>incoming = self.workload_gen.get_incoming_tasks(self.hour).</a:t>
            </a:r>
          </a:p>
          <a:p>
            <a:pPr/>
            <a:r>
              <a:t>self.queue += incoming.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60. APPENDIX G - ENVIRONMENT (ACTION 0 BOOST)</a:t>
            </a:r>
          </a:p>
        </p:txBody>
      </p:sp>
      <p:sp>
        <p:nvSpPr>
          <p:cNvPr id="3" name="Content Placeholder 2"/>
          <p:cNvSpPr>
            <a:spLocks noGrp="1"/>
          </p:cNvSpPr>
          <p:nvPr>
            <p:ph idx="1"/>
          </p:nvPr>
        </p:nvSpPr>
        <p:spPr/>
        <p:txBody>
          <a:bodyPr/>
          <a:lstStyle/>
          <a:p/>
          <a:p>
            <a:pPr/>
            <a:r>
              <a:t>SOURCE CODE: `simulation/environment.py` (Part 6).</a:t>
            </a:r>
          </a:p>
          <a:p>
            <a:pPr/>
            <a:r>
              <a:t>if action == 0: # BOOST MODE.</a:t>
            </a:r>
          </a:p>
          <a:p>
            <a:pPr/>
            <a:r>
              <a:t>processed = self.queue.</a:t>
            </a:r>
          </a:p>
          <a:p>
            <a:pPr/>
            <a:r>
              <a:t>power_needed = processed * 0.1.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61. APPENDIX G - ENVIRONMENT (ACTION 1 ECO)</a:t>
            </a:r>
          </a:p>
        </p:txBody>
      </p:sp>
      <p:sp>
        <p:nvSpPr>
          <p:cNvPr id="3" name="Content Placeholder 2"/>
          <p:cNvSpPr>
            <a:spLocks noGrp="1"/>
          </p:cNvSpPr>
          <p:nvPr>
            <p:ph idx="1"/>
          </p:nvPr>
        </p:nvSpPr>
        <p:spPr/>
        <p:txBody>
          <a:bodyPr/>
          <a:lstStyle/>
          <a:p/>
          <a:p>
            <a:pPr/>
            <a:r>
              <a:t>SOURCE CODE: `simulation/environment.py` (Part 7).</a:t>
            </a:r>
          </a:p>
          <a:p>
            <a:pPr/>
            <a:r>
              <a:t>elif action == 1: # ECO MODE.</a:t>
            </a:r>
          </a:p>
          <a:p>
            <a:pPr/>
            <a:r>
              <a:t>Calculate strict green limit.</a:t>
            </a:r>
          </a:p>
          <a:p>
            <a:pPr/>
            <a:r>
              <a:t>affordable_tasks = int(green_pool / 0.1).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62. APPENDIX G - ENVIRONMENT (ACTION 2 DEFER)</a:t>
            </a:r>
          </a:p>
        </p:txBody>
      </p:sp>
      <p:sp>
        <p:nvSpPr>
          <p:cNvPr id="3" name="Content Placeholder 2"/>
          <p:cNvSpPr>
            <a:spLocks noGrp="1"/>
          </p:cNvSpPr>
          <p:nvPr>
            <p:ph idx="1"/>
          </p:nvPr>
        </p:nvSpPr>
        <p:spPr/>
        <p:txBody>
          <a:bodyPr/>
          <a:lstStyle/>
          <a:p/>
          <a:p>
            <a:pPr/>
            <a:r>
              <a:t>SOURCE CODE: `simulation/environment.py` (Part 8).</a:t>
            </a:r>
          </a:p>
          <a:p>
            <a:pPr/>
            <a:r>
              <a:t>elif action == 2: # DEFER MODE.</a:t>
            </a:r>
          </a:p>
          <a:p>
            <a:pPr/>
            <a:r>
              <a:t>Store excess solar in battery.</a:t>
            </a:r>
          </a:p>
          <a:p>
            <a:pPr/>
            <a:r>
              <a:t>self.battery = min(self.battery_capacity, self.battery + solar).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63. APPENDIX G - ENVIRONMENT (QUEUE PHYSICS)</a:t>
            </a:r>
          </a:p>
        </p:txBody>
      </p:sp>
      <p:sp>
        <p:nvSpPr>
          <p:cNvPr id="3" name="Content Placeholder 2"/>
          <p:cNvSpPr>
            <a:spLocks noGrp="1"/>
          </p:cNvSpPr>
          <p:nvPr>
            <p:ph idx="1"/>
          </p:nvPr>
        </p:nvSpPr>
        <p:spPr/>
        <p:txBody>
          <a:bodyPr/>
          <a:lstStyle/>
          <a:p/>
          <a:p>
            <a:pPr/>
            <a:r>
              <a:t>SOURCE CODE: `simulation/environment.py` (Part 9).</a:t>
            </a:r>
          </a:p>
          <a:p>
            <a:pPr/>
            <a:r>
              <a:t>self.queue -= processed.</a:t>
            </a:r>
          </a:p>
          <a:p>
            <a:pPr/>
            <a:r>
              <a:t>if self.queue &gt; self.queue_max:.</a:t>
            </a:r>
          </a:p>
          <a:p>
            <a:pPr/>
            <a:r>
              <a:t>dropped = self.queue - self.queue_max.</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64. APPENDIX G - ENVIRONMENT (REWARD CALCULATION)</a:t>
            </a:r>
          </a:p>
        </p:txBody>
      </p:sp>
      <p:sp>
        <p:nvSpPr>
          <p:cNvPr id="3" name="Content Placeholder 2"/>
          <p:cNvSpPr>
            <a:spLocks noGrp="1"/>
          </p:cNvSpPr>
          <p:nvPr>
            <p:ph idx="1"/>
          </p:nvPr>
        </p:nvSpPr>
        <p:spPr/>
        <p:txBody>
          <a:bodyPr/>
          <a:lstStyle/>
          <a:p/>
          <a:p>
            <a:pPr/>
            <a:r>
              <a:t>SOURCE CODE: `simulation/environment.py` (Part 10).</a:t>
            </a:r>
          </a:p>
          <a:p>
            <a:pPr/>
            <a:r>
              <a:t>Incentive: +1 point per task processed.</a:t>
            </a:r>
          </a:p>
          <a:p>
            <a:pPr/>
            <a:r>
              <a:t>reward = (processed * 1.0).</a:t>
            </a:r>
          </a:p>
          <a:p>
            <a:pPr/>
            <a:r>
              <a:t>Detailed Analysis:.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65. APPENDIX G - ENVIRONMENT (PENALTIES &amp; RETURN)</a:t>
            </a:r>
          </a:p>
        </p:txBody>
      </p:sp>
      <p:sp>
        <p:nvSpPr>
          <p:cNvPr id="3" name="Content Placeholder 2"/>
          <p:cNvSpPr>
            <a:spLocks noGrp="1"/>
          </p:cNvSpPr>
          <p:nvPr>
            <p:ph idx="1"/>
          </p:nvPr>
        </p:nvSpPr>
        <p:spPr/>
        <p:txBody>
          <a:bodyPr/>
          <a:lstStyle/>
          <a:p/>
          <a:p>
            <a:pPr/>
            <a:r>
              <a:t>SOURCE CODE: `simulation/environment.py` (Part 11).</a:t>
            </a:r>
          </a:p>
          <a:p>
            <a:pPr/>
            <a:r>
              <a:t>Penalty: -0.05 per gram of carbon.</a:t>
            </a:r>
          </a:p>
          <a:p>
            <a:pPr/>
            <a:r>
              <a:t>carbon_intensity = self.energy_model.get_carbon_intensity(self.hour).</a:t>
            </a:r>
          </a:p>
          <a:p>
            <a:pPr/>
            <a:r>
              <a:t>reward -= (grid_used * carbon_intensity * 0.05).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66. APPENDIX H - FRONTEND (IMPORTS &amp; CONFIG)</a:t>
            </a:r>
          </a:p>
        </p:txBody>
      </p:sp>
      <p:sp>
        <p:nvSpPr>
          <p:cNvPr id="3" name="Content Placeholder 2"/>
          <p:cNvSpPr>
            <a:spLocks noGrp="1"/>
          </p:cNvSpPr>
          <p:nvPr>
            <p:ph idx="1"/>
          </p:nvPr>
        </p:nvSpPr>
        <p:spPr/>
        <p:txBody>
          <a:bodyPr/>
          <a:lstStyle/>
          <a:p/>
          <a:p>
            <a:pPr/>
            <a:r>
              <a:t>SOURCE CODE: `app.py` (Part 1).</a:t>
            </a:r>
          </a:p>
          <a:p>
            <a:pPr/>
            <a:r>
              <a:t>from simulation.ai_inference import AIInferenceEngine.</a:t>
            </a:r>
          </a:p>
          <a:p>
            <a:pPr/>
            <a:r>
              <a:t>from simulation.energy import EnergyModel.</a:t>
            </a:r>
          </a:p>
          <a:p>
            <a:pPr/>
            <a:r>
              <a:t>page_title="EcoSync Dashboard",.</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67. APPENDIX H - FRONTEND (CSS LOADER)</a:t>
            </a:r>
          </a:p>
        </p:txBody>
      </p:sp>
      <p:sp>
        <p:nvSpPr>
          <p:cNvPr id="3" name="Content Placeholder 2"/>
          <p:cNvSpPr>
            <a:spLocks noGrp="1"/>
          </p:cNvSpPr>
          <p:nvPr>
            <p:ph idx="1"/>
          </p:nvPr>
        </p:nvSpPr>
        <p:spPr/>
        <p:txBody>
          <a:bodyPr/>
          <a:lstStyle/>
          <a:p/>
          <a:p>
            <a:pPr/>
            <a:r>
              <a:t>SOURCE CODE: `app.py` (Part 2).</a:t>
            </a:r>
          </a:p>
          <a:p>
            <a:pPr/>
            <a:r>
              <a:t>with open(file_name) as f:.</a:t>
            </a:r>
          </a:p>
          <a:p>
            <a:pPr/>
            <a:r>
              <a:t>st.markdown(f'&lt;style&gt;{f.read()}&lt;/style&gt;', unsafe_allow_html=True).</a:t>
            </a:r>
          </a:p>
          <a:p>
            <a:pPr/>
            <a:r>
              <a:t>local_css("assets/compact.css").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68. APPENDIX H - FRONTEND (SIDEBAR)</a:t>
            </a:r>
          </a:p>
        </p:txBody>
      </p:sp>
      <p:sp>
        <p:nvSpPr>
          <p:cNvPr id="3" name="Content Placeholder 2"/>
          <p:cNvSpPr>
            <a:spLocks noGrp="1"/>
          </p:cNvSpPr>
          <p:nvPr>
            <p:ph idx="1"/>
          </p:nvPr>
        </p:nvSpPr>
        <p:spPr/>
        <p:txBody>
          <a:bodyPr/>
          <a:lstStyle/>
          <a:p/>
          <a:p>
            <a:pPr/>
            <a:r>
              <a:t>SOURCE CODE: `app.py` (Part 3).</a:t>
            </a:r>
          </a:p>
          <a:p>
            <a:pPr/>
            <a:r>
              <a:t>st.sidebar.title("🎛️ Controls").</a:t>
            </a:r>
          </a:p>
          <a:p>
            <a:pPr/>
            <a:r>
              <a:t>solar_cap = st.sidebar.slider("Solar Capacity (kW)", 0, 500, 150).</a:t>
            </a:r>
          </a:p>
          <a:p>
            <a:pPr/>
            <a:r>
              <a:t>wind_cap = st.sidebar.slider("Wind Capacity (kW)", 0, 300, 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69. APPENDIX H - FRONTEND (AI INSTANTIATION)</a:t>
            </a:r>
          </a:p>
        </p:txBody>
      </p:sp>
      <p:sp>
        <p:nvSpPr>
          <p:cNvPr id="3" name="Content Placeholder 2"/>
          <p:cNvSpPr>
            <a:spLocks noGrp="1"/>
          </p:cNvSpPr>
          <p:nvPr>
            <p:ph idx="1"/>
          </p:nvPr>
        </p:nvSpPr>
        <p:spPr/>
        <p:txBody>
          <a:bodyPr/>
          <a:lstStyle/>
          <a:p/>
          <a:p>
            <a:pPr/>
            <a:r>
              <a:t>SOURCE CODE: `app.py` (Part 4).</a:t>
            </a:r>
          </a:p>
          <a:p>
            <a:pPr/>
            <a:r>
              <a:t>Initialize Engines.</a:t>
            </a:r>
          </a:p>
          <a:p>
            <a:pPr/>
            <a:r>
              <a:t>if 'ai_engine' not in st.session_state:.</a:t>
            </a:r>
          </a:p>
          <a:p>
            <a:pPr/>
            <a:r>
              <a:t>st.session_state.ai_engine = AIInferenceEngine().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70. APPENDIX H - FRONTEND (SIMULATION LOOP)</a:t>
            </a:r>
          </a:p>
        </p:txBody>
      </p:sp>
      <p:sp>
        <p:nvSpPr>
          <p:cNvPr id="3" name="Content Placeholder 2"/>
          <p:cNvSpPr>
            <a:spLocks noGrp="1"/>
          </p:cNvSpPr>
          <p:nvPr>
            <p:ph idx="1"/>
          </p:nvPr>
        </p:nvSpPr>
        <p:spPr/>
        <p:txBody>
          <a:bodyPr/>
          <a:lstStyle/>
          <a:p/>
          <a:p>
            <a:pPr/>
            <a:r>
              <a:t>SOURCE CODE: `app.py` (Part 5).</a:t>
            </a:r>
          </a:p>
          <a:p>
            <a:pPr/>
            <a:r>
              <a:t>Run 24 Hour Simulation for Visualization.</a:t>
            </a:r>
          </a:p>
          <a:p>
            <a:pPr/>
            <a:r>
              <a:t>'hour': [], 'load': [], 'solar': [],.</a:t>
            </a:r>
          </a:p>
          <a:p>
            <a:pPr/>
            <a:r>
              <a:t>'action': [], 'carbon':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71. APPENDIX H - FRONTEND (PLOTLY TRACES)</a:t>
            </a:r>
          </a:p>
        </p:txBody>
      </p:sp>
      <p:sp>
        <p:nvSpPr>
          <p:cNvPr id="3" name="Content Placeholder 2"/>
          <p:cNvSpPr>
            <a:spLocks noGrp="1"/>
          </p:cNvSpPr>
          <p:nvPr>
            <p:ph idx="1"/>
          </p:nvPr>
        </p:nvSpPr>
        <p:spPr/>
        <p:txBody>
          <a:bodyPr/>
          <a:lstStyle/>
          <a:p/>
          <a:p>
            <a:pPr/>
            <a:r>
              <a:t>SOURCE CODE: `app.py` (Part 6).</a:t>
            </a:r>
          </a:p>
          <a:p>
            <a:pPr/>
            <a:r>
              <a:t>fig.add_trace(go.Scatter(.</a:t>
            </a:r>
          </a:p>
          <a:p>
            <a:pPr/>
            <a:r>
              <a:t>x=results['hour'], y=results['solar'],.</a:t>
            </a:r>
          </a:p>
          <a:p>
            <a:pPr/>
            <a:r>
              <a:t>fill='tozeroy', name="Solar Generation",.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72. APPENDIX H - FRONTEND (DUAL AXIS LAYOUT)</a:t>
            </a:r>
          </a:p>
        </p:txBody>
      </p:sp>
      <p:sp>
        <p:nvSpPr>
          <p:cNvPr id="3" name="Content Placeholder 2"/>
          <p:cNvSpPr>
            <a:spLocks noGrp="1"/>
          </p:cNvSpPr>
          <p:nvPr>
            <p:ph idx="1"/>
          </p:nvPr>
        </p:nvSpPr>
        <p:spPr/>
        <p:txBody>
          <a:bodyPr/>
          <a:lstStyle/>
          <a:p/>
          <a:p>
            <a:pPr/>
            <a:r>
              <a:t>SOURCE CODE: `app.py` (Part 7).</a:t>
            </a:r>
          </a:p>
          <a:p>
            <a:pPr/>
            <a:r>
              <a:t>fig.add_trace(go.Scatter(.</a:t>
            </a:r>
          </a:p>
          <a:p>
            <a:pPr/>
            <a:r>
              <a:t>x=results['hour'], y=results['carbon_intensity'],.</a:t>
            </a:r>
          </a:p>
          <a:p>
            <a:pPr/>
            <a:r>
              <a:t>name="Grid Carbon (g/kWh)",.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73. APPENDIX H - FRONTEND (AUDIT SESSION)</a:t>
            </a:r>
          </a:p>
        </p:txBody>
      </p:sp>
      <p:sp>
        <p:nvSpPr>
          <p:cNvPr id="3" name="Content Placeholder 2"/>
          <p:cNvSpPr>
            <a:spLocks noGrp="1"/>
          </p:cNvSpPr>
          <p:nvPr>
            <p:ph idx="1"/>
          </p:nvPr>
        </p:nvSpPr>
        <p:spPr/>
        <p:txBody>
          <a:bodyPr/>
          <a:lstStyle/>
          <a:p/>
          <a:p>
            <a:pPr/>
            <a:r>
              <a:t>SOURCE CODE: `app.py` (Part 8).</a:t>
            </a:r>
          </a:p>
          <a:p>
            <a:pPr/>
            <a:r>
              <a:t>if st.button("Open Audit Log"):.</a:t>
            </a:r>
          </a:p>
          <a:p>
            <a:pPr/>
            <a:r>
              <a:t>st.session_state['audit_open'] = True.</a:t>
            </a:r>
          </a:p>
          <a:p>
            <a:pPr/>
            <a:r>
              <a:t>if st.session_state.get('audit_open'):.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74. APPENDIX H - FRONTEND (JS BRIDGE)</a:t>
            </a:r>
          </a:p>
        </p:txBody>
      </p:sp>
      <p:sp>
        <p:nvSpPr>
          <p:cNvPr id="3" name="Content Placeholder 2"/>
          <p:cNvSpPr>
            <a:spLocks noGrp="1"/>
          </p:cNvSpPr>
          <p:nvPr>
            <p:ph idx="1"/>
          </p:nvPr>
        </p:nvSpPr>
        <p:spPr/>
        <p:txBody>
          <a:bodyPr/>
          <a:lstStyle/>
          <a:p/>
          <a:p>
            <a:pPr/>
            <a:r>
              <a:t>SOURCE CODE: `app.py` (Part 9).</a:t>
            </a:r>
          </a:p>
          <a:p>
            <a:pPr/>
            <a:r>
              <a:t>Javascript to handle click-outside-close.</a:t>
            </a:r>
          </a:p>
          <a:p>
            <a:pPr/>
            <a:r>
              <a:t>const doc = window.parent.document;.</a:t>
            </a:r>
          </a:p>
          <a:p>
            <a:pPr/>
            <a:r>
              <a:t>doc.addEventListener('click', function(e)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75. APPENDIX H - FRONTEND (MAIN EXECUTION)</a:t>
            </a:r>
          </a:p>
        </p:txBody>
      </p:sp>
      <p:sp>
        <p:nvSpPr>
          <p:cNvPr id="3" name="Content Placeholder 2"/>
          <p:cNvSpPr>
            <a:spLocks noGrp="1"/>
          </p:cNvSpPr>
          <p:nvPr>
            <p:ph idx="1"/>
          </p:nvPr>
        </p:nvSpPr>
        <p:spPr/>
        <p:txBody>
          <a:bodyPr/>
          <a:lstStyle/>
          <a:p/>
          <a:p>
            <a:pPr/>
            <a:r>
              <a:t>SOURCE CODE: `app.py` (Part 10).</a:t>
            </a:r>
          </a:p>
          <a:p>
            <a:pPr/>
            <a:r>
              <a:t>if name == "main":.</a:t>
            </a:r>
          </a:p>
          <a:p>
            <a:pPr/>
            <a:r>
              <a:t>except Exception as e:.</a:t>
            </a:r>
          </a:p>
          <a:p>
            <a:pPr/>
            <a:r>
              <a:t>st.error(f"System Error: {str(e)}").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76. CONCLUSION - ISO 50001 ALIGNMENT</a:t>
            </a:r>
          </a:p>
        </p:txBody>
      </p:sp>
      <p:sp>
        <p:nvSpPr>
          <p:cNvPr id="3" name="Content Placeholder 2"/>
          <p:cNvSpPr>
            <a:spLocks noGrp="1"/>
          </p:cNvSpPr>
          <p:nvPr>
            <p:ph idx="1"/>
          </p:nvPr>
        </p:nvSpPr>
        <p:spPr/>
        <p:txBody>
          <a:bodyPr/>
          <a:lstStyle/>
          <a:p/>
          <a:p>
            <a:pPr/>
            <a:r>
              <a:t>Analysis of the ISO 50001 Energy Management Standard..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77. CONCLUSION - GREEN SOFTWARE FOUNDATION</a:t>
            </a:r>
          </a:p>
        </p:txBody>
      </p:sp>
      <p:sp>
        <p:nvSpPr>
          <p:cNvPr id="3" name="Content Placeholder 2"/>
          <p:cNvSpPr>
            <a:spLocks noGrp="1"/>
          </p:cNvSpPr>
          <p:nvPr>
            <p:ph idx="1"/>
          </p:nvPr>
        </p:nvSpPr>
        <p:spPr/>
        <p:txBody>
          <a:bodyPr/>
          <a:lstStyle/>
          <a:p/>
          <a:p>
            <a:pPr/>
            <a:r>
              <a:t>Analysis of GSF Standards..</a:t>
            </a:r>
          </a:p>
          <a:p>
            <a:pPr/>
            <a:r>
              <a:t>We specifically calculate the SCI (Software Carbon Intensity) score..</a:t>
            </a:r>
          </a:p>
          <a:p>
            <a:pPr/>
            <a:r>
              <a:t>$SCI = (E \cdot I) + M$..</a:t>
            </a:r>
          </a:p>
          <a:p>
            <a:pPr/>
            <a:r>
              <a:t>E = Energy Consumed (tracked by simulator)..</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78. CONCLUSION - LIMITATIONS &amp; BIAS</a:t>
            </a:r>
          </a:p>
        </p:txBody>
      </p:sp>
      <p:sp>
        <p:nvSpPr>
          <p:cNvPr id="3" name="Content Placeholder 2"/>
          <p:cNvSpPr>
            <a:spLocks noGrp="1"/>
          </p:cNvSpPr>
          <p:nvPr>
            <p:ph idx="1"/>
          </p:nvPr>
        </p:nvSpPr>
        <p:spPr/>
        <p:txBody>
          <a:bodyPr/>
          <a:lstStyle/>
          <a:p/>
          <a:p>
            <a:pPr/>
            <a:r>
              <a:t>Honest academic reflection..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79. ACKNOWLEDGEMENTS</a:t>
            </a:r>
          </a:p>
        </p:txBody>
      </p:sp>
      <p:sp>
        <p:nvSpPr>
          <p:cNvPr id="3" name="Content Placeholder 2"/>
          <p:cNvSpPr>
            <a:spLocks noGrp="1"/>
          </p:cNvSpPr>
          <p:nvPr>
            <p:ph idx="1"/>
          </p:nvPr>
        </p:nvSpPr>
        <p:spPr/>
        <p:txBody>
          <a:bodyPr/>
          <a:lstStyle/>
          <a:p/>
          <a:p>
            <a:pPr/>
            <a:r>
              <a:t>Formal academic acknowledgements..</a:t>
            </a:r>
          </a:p>
          <a:p>
            <a:pPr/>
            <a:r>
              <a:t>- OpenAI: For the Gym API design..</a:t>
            </a:r>
          </a:p>
          <a:p>
            <a:pPr/>
            <a:r>
              <a:t>- Stable-Baselines3 Team: For the robust PPO implementation..</a:t>
            </a:r>
          </a:p>
          <a:p>
            <a:pPr/>
            <a:r>
              <a:t>- Streamlit: For the rapid prototyping framework..</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80. FINAL SIGN-OFF</a:t>
            </a:r>
          </a:p>
        </p:txBody>
      </p:sp>
      <p:sp>
        <p:nvSpPr>
          <p:cNvPr id="3" name="Content Placeholder 2"/>
          <p:cNvSpPr>
            <a:spLocks noGrp="1"/>
          </p:cNvSpPr>
          <p:nvPr>
            <p:ph idx="1"/>
          </p:nvPr>
        </p:nvSpPr>
        <p:spPr/>
        <p:txBody>
          <a:bodyPr/>
          <a:lstStyle/>
          <a:p/>
          <a:p>
            <a:pPr/>
            <a:r>
              <a:t>"The Future is Carbon Aware.".</a:t>
            </a:r>
          </a:p>
          <a:p>
            <a:pPr/>
            <a:r>
              <a:t>Final closing statement summarizing the journey from "Red AI" to "Green AI.".</a:t>
            </a:r>
          </a:p>
          <a:p>
            <a:pPr/>
            <a:r>
              <a:t>We conclude that while hardware efficiency (Moore's Law) is slowing down, software efficiency (Algorithmic Load Shifting...</a:t>
            </a:r>
          </a:p>
          <a:p>
            <a:pPr/>
            <a:r>
              <a:t>🏁 FINAL INSTRUCTION FOR PART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